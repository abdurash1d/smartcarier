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86" r:id="rId3"/>
    <p:sldId id="257" r:id="rId4"/>
    <p:sldId id="258" r:id="rId5"/>
    <p:sldId id="282"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4" r:id="rId28"/>
    <p:sldId id="283" r:id="rId29"/>
    <p:sldId id="285" r:id="rId30"/>
    <p:sldId id="280" r:id="rId31"/>
    <p:sldId id="281" r:id="rId32"/>
  </p:sldIdLst>
  <p:sldSz cx="18288000" cy="10287000"/>
  <p:notesSz cx="6858000" cy="9144000"/>
  <p:embeddedFontLst>
    <p:embeddedFont>
      <p:font typeface="Arial Nova Condensed" panose="020B0604020202020204" charset="0"/>
      <p:regular r:id="rId34"/>
    </p:embeddedFont>
    <p:embeddedFont>
      <p:font typeface="Arial Nova Condensed Bold" panose="020B0604020202020204" charset="0"/>
      <p:regular r:id="rId35"/>
      <p:bold r:id="rId36"/>
    </p:embeddedFont>
    <p:embeddedFont>
      <p:font typeface="Calibri" panose="020F0502020204030204" pitchFamily="34" charset="0"/>
      <p:regular r:id="rId37"/>
      <p:bold r:id="rId38"/>
      <p:italic r:id="rId39"/>
      <p:boldItalic r:id="rId40"/>
    </p:embeddedFont>
    <p:embeddedFont>
      <p:font typeface="League Gothic" panose="020B0604020202020204" charset="0"/>
      <p:regular r:id="rId41"/>
    </p:embeddedFont>
    <p:embeddedFont>
      <p:font typeface="Arial Nova Condensed Italics" panose="020B0604020202020204" charset="0"/>
      <p:regular r:id="rId42"/>
      <p: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8D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8"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C1D76-665A-DB4C-B99E-0D2D0BBDCE83}" type="datetimeFigureOut">
              <a:rPr lang="en-UZ" smtClean="0"/>
              <a:t>04/24/2026</a:t>
            </a:fld>
            <a:endParaRPr lang="en-U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A091E-6F01-A447-922D-280F39A8DC98}" type="slidenum">
              <a:rPr lang="en-UZ" smtClean="0"/>
              <a:t>‹#›</a:t>
            </a:fld>
            <a:endParaRPr lang="en-UZ"/>
          </a:p>
        </p:txBody>
      </p:sp>
    </p:spTree>
    <p:extLst>
      <p:ext uri="{BB962C8B-B14F-4D97-AF65-F5344CB8AC3E}">
        <p14:creationId xmlns:p14="http://schemas.microsoft.com/office/powerpoint/2010/main" val="3942313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FDED3F-E98E-214D-B863-7C6D3E935D5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50C4AE-CA61-8549-AA93-C18A6892319D}"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011FB5-F0F3-2141-976E-C47A8944E250}"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F18A799-C98C-2B4B-B9A8-6C0A96DF3D5B}"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094797-C71D-754E-9491-0F358AAA8D10}" type="datetime1">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C6163B-11DD-F94C-AB42-B0969F1ECB13}" type="datetime1">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561FF0C8-6761-5279-CAE7-0C8600A1A1C2}"/>
              </a:ext>
            </a:extLst>
          </p:cNvPr>
          <p:cNvSpPr/>
          <p:nvPr userDrawn="1"/>
        </p:nvSpPr>
        <p:spPr>
          <a:xfrm rot="16200000">
            <a:off x="17295452" y="192448"/>
            <a:ext cx="765896" cy="1219200"/>
          </a:xfrm>
          <a:prstGeom prst="round2Same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Z"/>
          </a:p>
        </p:txBody>
      </p:sp>
      <p:sp>
        <p:nvSpPr>
          <p:cNvPr id="2" name="Date Placeholder 1"/>
          <p:cNvSpPr>
            <a:spLocks noGrp="1"/>
          </p:cNvSpPr>
          <p:nvPr>
            <p:ph type="dt" sz="half" idx="10"/>
          </p:nvPr>
        </p:nvSpPr>
        <p:spPr/>
        <p:txBody>
          <a:bodyPr/>
          <a:lstStyle/>
          <a:p>
            <a:fld id="{81D9A395-19A2-854D-9A8D-950770568081}" type="datetime1">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849600" y="419100"/>
            <a:ext cx="2133600" cy="765896"/>
          </a:xfrm>
        </p:spPr>
        <p:txBody>
          <a:bodyPr/>
          <a:lstStyle>
            <a:lvl1pPr>
              <a:defRPr sz="2400" b="1">
                <a:solidFill>
                  <a:schemeClr val="bg1"/>
                </a:solidFill>
              </a:defRPr>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06D9E5-52EC-0C43-A37F-CBD74EA99828}"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10BA4A-53D0-1946-B37B-F400589309AA}"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A1702F-CDDD-FD4C-8DF0-CBF8E481BBFF}"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F192C4-F4F2-C84B-9607-9319FBFFE55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F43040-5418-EA4F-B9D1-100B5039C632}" type="datetime1">
              <a:rPr lang="en-US" smtClean="0"/>
              <a:t>4/24/2026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Round Same Side Corner Rectangle 8">
            <a:extLst>
              <a:ext uri="{FF2B5EF4-FFF2-40B4-BE49-F238E27FC236}">
                <a16:creationId xmlns:a16="http://schemas.microsoft.com/office/drawing/2014/main" id="{EBF2EEAF-F829-DC27-058E-959E0376C7B3}"/>
              </a:ext>
            </a:extLst>
          </p:cNvPr>
          <p:cNvSpPr/>
          <p:nvPr userDrawn="1"/>
        </p:nvSpPr>
        <p:spPr>
          <a:xfrm rot="16200000">
            <a:off x="17295452" y="192448"/>
            <a:ext cx="765896" cy="1219200"/>
          </a:xfrm>
          <a:prstGeom prst="round2Same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Z"/>
          </a:p>
        </p:txBody>
      </p:sp>
      <p:sp>
        <p:nvSpPr>
          <p:cNvPr id="6" name="Slide Number Placeholder 5"/>
          <p:cNvSpPr>
            <a:spLocks noGrp="1"/>
          </p:cNvSpPr>
          <p:nvPr>
            <p:ph type="sldNum" sz="quarter" idx="4"/>
          </p:nvPr>
        </p:nvSpPr>
        <p:spPr>
          <a:xfrm>
            <a:off x="15849600" y="417022"/>
            <a:ext cx="2133600" cy="765896"/>
          </a:xfrm>
          <a:prstGeom prst="rect">
            <a:avLst/>
          </a:prstGeom>
        </p:spPr>
        <p:txBody>
          <a:bodyPr vert="horz" lIns="91440" tIns="45720" rIns="91440" bIns="45720" rtlCol="0" anchor="ctr"/>
          <a:lstStyle>
            <a:lvl1pPr algn="r">
              <a:defRPr sz="2400" b="1">
                <a:solidFill>
                  <a:schemeClr val="bg1"/>
                </a:solidFill>
              </a:defRPr>
            </a:lvl1pPr>
          </a:lstStyle>
          <a:p>
            <a:fld id="{B6F15528-21DE-4FAA-801E-634DDDAF4B2B}" type="slidenum">
              <a:rPr lang="en-US" smtClean="0"/>
              <a:pPr/>
              <a:t>‹#›</a:t>
            </a:fld>
            <a:endParaRPr lang="en-US" sz="24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430590" y="278494"/>
            <a:ext cx="4820675" cy="907086"/>
          </a:xfrm>
          <a:custGeom>
            <a:avLst/>
            <a:gdLst/>
            <a:ahLst/>
            <a:cxnLst/>
            <a:rect l="l" t="t" r="r" b="b"/>
            <a:pathLst>
              <a:path w="4820675" h="907086">
                <a:moveTo>
                  <a:pt x="0" y="0"/>
                </a:moveTo>
                <a:lnTo>
                  <a:pt x="4820675" y="0"/>
                </a:lnTo>
                <a:lnTo>
                  <a:pt x="4820675" y="907085"/>
                </a:lnTo>
                <a:lnTo>
                  <a:pt x="0" y="907085"/>
                </a:lnTo>
                <a:lnTo>
                  <a:pt x="0" y="0"/>
                </a:lnTo>
                <a:close/>
              </a:path>
            </a:pathLst>
          </a:custGeom>
          <a:blipFill>
            <a:blip r:embed="rId2"/>
            <a:stretch>
              <a:fillRect/>
            </a:stretch>
          </a:blipFill>
        </p:spPr>
        <p:txBody>
          <a:bodyPr/>
          <a:lstStyle/>
          <a:p>
            <a:endParaRPr lang="en-UZ"/>
          </a:p>
        </p:txBody>
      </p:sp>
      <p:grpSp>
        <p:nvGrpSpPr>
          <p:cNvPr id="3" name="Group 3"/>
          <p:cNvGrpSpPr/>
          <p:nvPr/>
        </p:nvGrpSpPr>
        <p:grpSpPr>
          <a:xfrm>
            <a:off x="745723" y="2596864"/>
            <a:ext cx="5313365" cy="5313365"/>
            <a:chOff x="0" y="0"/>
            <a:chExt cx="7084487" cy="7084487"/>
          </a:xfrm>
        </p:grpSpPr>
        <p:sp>
          <p:nvSpPr>
            <p:cNvPr id="4" name="Freeform 4"/>
            <p:cNvSpPr/>
            <p:nvPr/>
          </p:nvSpPr>
          <p:spPr>
            <a:xfrm>
              <a:off x="0" y="0"/>
              <a:ext cx="7084487" cy="7084487"/>
            </a:xfrm>
            <a:custGeom>
              <a:avLst/>
              <a:gdLst/>
              <a:ahLst/>
              <a:cxnLst/>
              <a:rect l="l" t="t" r="r" b="b"/>
              <a:pathLst>
                <a:path w="7084487" h="7084487">
                  <a:moveTo>
                    <a:pt x="0" y="0"/>
                  </a:moveTo>
                  <a:lnTo>
                    <a:pt x="7084487" y="0"/>
                  </a:lnTo>
                  <a:lnTo>
                    <a:pt x="7084487" y="7084487"/>
                  </a:lnTo>
                  <a:lnTo>
                    <a:pt x="0" y="7084487"/>
                  </a:lnTo>
                  <a:lnTo>
                    <a:pt x="0" y="0"/>
                  </a:lnTo>
                  <a:close/>
                </a:path>
              </a:pathLst>
            </a:custGeom>
            <a:blipFill>
              <a:blip r:embed="rId3"/>
              <a:stretch>
                <a:fillRect/>
              </a:stretch>
            </a:blipFill>
          </p:spPr>
          <p:txBody>
            <a:bodyPr/>
            <a:lstStyle/>
            <a:p>
              <a:endParaRPr lang="en-UZ"/>
            </a:p>
          </p:txBody>
        </p:sp>
        <p:sp>
          <p:nvSpPr>
            <p:cNvPr id="5" name="TextBox 5"/>
            <p:cNvSpPr txBox="1"/>
            <p:nvPr/>
          </p:nvSpPr>
          <p:spPr>
            <a:xfrm>
              <a:off x="1101567" y="277282"/>
              <a:ext cx="5047403" cy="880533"/>
            </a:xfrm>
            <a:prstGeom prst="rect">
              <a:avLst/>
            </a:prstGeom>
          </p:spPr>
          <p:txBody>
            <a:bodyPr lIns="0" tIns="0" rIns="0" bIns="0" rtlCol="0" anchor="t">
              <a:spAutoFit/>
            </a:bodyPr>
            <a:lstStyle/>
            <a:p>
              <a:pPr algn="ctr">
                <a:lnSpc>
                  <a:spcPts val="5599"/>
                </a:lnSpc>
                <a:spcBef>
                  <a:spcPct val="0"/>
                </a:spcBef>
              </a:pPr>
              <a:r>
                <a:rPr lang="en-US" sz="3999">
                  <a:solidFill>
                    <a:srgbClr val="1800AD"/>
                  </a:solidFill>
                  <a:latin typeface="League Gothic"/>
                  <a:ea typeface="League Gothic"/>
                  <a:cs typeface="League Gothic"/>
                  <a:sym typeface="League Gothic"/>
                </a:rPr>
                <a:t>Project Logo</a:t>
              </a:r>
            </a:p>
          </p:txBody>
        </p:sp>
      </p:grpSp>
      <p:sp>
        <p:nvSpPr>
          <p:cNvPr id="6" name="TextBox 6"/>
          <p:cNvSpPr txBox="1"/>
          <p:nvPr/>
        </p:nvSpPr>
        <p:spPr>
          <a:xfrm>
            <a:off x="6452773" y="2425414"/>
            <a:ext cx="11230644" cy="1566544"/>
          </a:xfrm>
          <a:prstGeom prst="rect">
            <a:avLst/>
          </a:prstGeom>
        </p:spPr>
        <p:txBody>
          <a:bodyPr lIns="0" tIns="0" rIns="0" bIns="0" rtlCol="0" anchor="t">
            <a:spAutoFit/>
          </a:bodyPr>
          <a:lstStyle/>
          <a:p>
            <a:pPr algn="l">
              <a:lnSpc>
                <a:spcPts val="12880"/>
              </a:lnSpc>
            </a:pPr>
            <a:r>
              <a:t>SmartCareer AI: An AI-Powered Career Platform for Students and Employers</a:t>
            </a:r>
          </a:p>
        </p:txBody>
      </p:sp>
      <p:sp>
        <p:nvSpPr>
          <p:cNvPr id="7" name="TextBox 7"/>
          <p:cNvSpPr txBox="1"/>
          <p:nvPr/>
        </p:nvSpPr>
        <p:spPr>
          <a:xfrm>
            <a:off x="6452773" y="3915758"/>
            <a:ext cx="11230644" cy="606425"/>
          </a:xfrm>
          <a:prstGeom prst="rect">
            <a:avLst/>
          </a:prstGeom>
        </p:spPr>
        <p:txBody>
          <a:bodyPr lIns="0" tIns="0" rIns="0" bIns="0" rtlCol="0" anchor="t">
            <a:spAutoFit/>
          </a:bodyPr>
          <a:lstStyle/>
          <a:p>
            <a:pPr algn="l">
              <a:lnSpc>
                <a:spcPts val="4900"/>
              </a:lnSpc>
            </a:pPr>
            <a:r>
              <a:t>Graduation Project</a:t>
            </a:r>
          </a:p>
          <a:p>
            <a:pPr algn="l">
              <a:lnSpc>
                <a:spcPts val="4900"/>
              </a:lnSpc>
            </a:pPr>
            <a:r>
              <a:t/>
            </a:r>
          </a:p>
          <a:p>
            <a:pPr algn="l">
              <a:lnSpc>
                <a:spcPts val="4900"/>
              </a:lnSpc>
            </a:pPr>
            <a:r>
              <a:t>Djumabaev Abdurashid  |  Student ID: 210004</a:t>
            </a:r>
          </a:p>
          <a:p>
            <a:pPr algn="l">
              <a:lnSpc>
                <a:spcPts val="4900"/>
              </a:lnSpc>
            </a:pPr>
            <a:r>
              <a:t>BSc in Computer Science</a:t>
            </a:r>
          </a:p>
          <a:p>
            <a:pPr algn="l">
              <a:lnSpc>
                <a:spcPts val="4900"/>
              </a:lnSpc>
            </a:pPr>
            <a:r>
              <a:t/>
            </a:r>
          </a:p>
          <a:p>
            <a:pPr algn="l">
              <a:lnSpc>
                <a:spcPts val="4900"/>
              </a:lnSpc>
            </a:pPr>
            <a:r>
              <a:t>Supervisor: Mr. Farhod Mahmudxo'jayev</a:t>
            </a:r>
          </a:p>
          <a:p>
            <a:pPr algn="l">
              <a:lnSpc>
                <a:spcPts val="4900"/>
              </a:lnSpc>
            </a:pPr>
            <a:r>
              <a:t>Professor: Eugene Castro</a:t>
            </a:r>
          </a:p>
        </p:txBody>
      </p:sp>
      <p:grpSp>
        <p:nvGrpSpPr>
          <p:cNvPr id="8" name="Group 8"/>
          <p:cNvGrpSpPr/>
          <p:nvPr/>
        </p:nvGrpSpPr>
        <p:grpSpPr>
          <a:xfrm>
            <a:off x="6452773" y="4632230"/>
            <a:ext cx="11638199" cy="3072765"/>
            <a:chOff x="0" y="0"/>
            <a:chExt cx="15517599" cy="4097020"/>
          </a:xfrm>
        </p:grpSpPr>
        <p:sp>
          <p:nvSpPr>
            <p:cNvPr id="9" name="TextBox 9"/>
            <p:cNvSpPr txBox="1"/>
            <p:nvPr/>
          </p:nvSpPr>
          <p:spPr>
            <a:xfrm>
              <a:off x="0" y="-95250"/>
              <a:ext cx="6438252" cy="1107017"/>
            </a:xfrm>
            <a:prstGeom prst="rect">
              <a:avLst/>
            </a:prstGeom>
          </p:spPr>
          <p:txBody>
            <a:bodyPr lIns="0" tIns="0" rIns="0" bIns="0" rtlCol="0" anchor="t">
              <a:spAutoFit/>
            </a:bodyPr>
            <a:lstStyle/>
            <a:p>
              <a:pPr algn="l">
                <a:lnSpc>
                  <a:spcPts val="7000"/>
                </a:lnSpc>
              </a:pPr>
              <a:r>
                <a:rPr lang="en-US" sz="5000" b="1">
                  <a:solidFill>
                    <a:srgbClr val="FFFFFF"/>
                  </a:solidFill>
                  <a:latin typeface="Arial Nova Condensed Bold"/>
                  <a:ea typeface="Arial Nova Condensed Bold"/>
                  <a:cs typeface="Arial Nova Condensed Bold"/>
                  <a:sym typeface="Arial Nova Condensed Bold"/>
                </a:rPr>
                <a:t>Team Members:</a:t>
              </a:r>
            </a:p>
          </p:txBody>
        </p:sp>
        <p:sp>
          <p:nvSpPr>
            <p:cNvPr id="10" name="TextBox 10"/>
            <p:cNvSpPr txBox="1"/>
            <p:nvPr/>
          </p:nvSpPr>
          <p:spPr>
            <a:xfrm>
              <a:off x="0" y="945092"/>
              <a:ext cx="15517599" cy="3151928"/>
            </a:xfrm>
            <a:prstGeom prst="rect">
              <a:avLst/>
            </a:prstGeom>
          </p:spPr>
          <p:txBody>
            <a:bodyPr lIns="0" tIns="0" rIns="0" bIns="0" rtlCol="0" anchor="t">
              <a:spAutoFit/>
            </a:bodyPr>
            <a:lstStyle/>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p:txBody>
        </p:sp>
      </p:grpSp>
      <p:sp>
        <p:nvSpPr>
          <p:cNvPr id="11" name="TextBox 11"/>
          <p:cNvSpPr txBox="1"/>
          <p:nvPr/>
        </p:nvSpPr>
        <p:spPr>
          <a:xfrm>
            <a:off x="320797" y="8767127"/>
            <a:ext cx="17770176" cy="887095"/>
          </a:xfrm>
          <a:prstGeom prst="rect">
            <a:avLst/>
          </a:prstGeom>
        </p:spPr>
        <p:txBody>
          <a:bodyPr lIns="0" tIns="0" rIns="0" bIns="0" rtlCol="0" anchor="t">
            <a:spAutoFit/>
          </a:bodyPr>
          <a:lstStyle/>
          <a:p>
            <a:pPr algn="ctr">
              <a:lnSpc>
                <a:spcPts val="7279"/>
              </a:lnSpc>
            </a:pPr>
            <a:r>
              <a:t>5 May, 2026</a:t>
            </a:r>
          </a:p>
        </p:txBody>
      </p:sp>
      <p:sp>
        <p:nvSpPr>
          <p:cNvPr id="12" name="Slide Number Placeholder 11">
            <a:extLst>
              <a:ext uri="{FF2B5EF4-FFF2-40B4-BE49-F238E27FC236}">
                <a16:creationId xmlns:a16="http://schemas.microsoft.com/office/drawing/2014/main" id="{07260B3D-3462-45A9-2A4C-FC64B5A27961}"/>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F72B5A76-7375-A948-B7CB-FFAA649AE850}"/>
            </a:ext>
          </a:extLst>
        </p:cNvPr>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13BE6FE5-3110-149C-0D3C-AD6794C3029F}"/>
              </a:ext>
            </a:extLst>
          </p:cNvPr>
          <p:cNvSpPr>
            <a:spLocks noGrp="1"/>
          </p:cNvSpPr>
          <p:nvPr>
            <p:ph idx="1"/>
          </p:nvPr>
        </p:nvSpPr>
        <p:spPr>
          <a:xfrm>
            <a:off x="675376" y="1638300"/>
            <a:ext cx="8163824" cy="7678741"/>
          </a:xfrm>
        </p:spPr>
        <p:txBody>
          <a:bodyPr>
            <a:normAutofit/>
          </a:bodyPr>
          <a:lstStyle/>
          <a:p>
            <a:r>
              <a:rPr lang="en-US" sz="4400" b="1" dirty="0">
                <a:solidFill>
                  <a:srgbClr val="FFFFFF"/>
                </a:solidFill>
                <a:latin typeface="Arial Nova Condensed Bold"/>
                <a:ea typeface="Arial Nova Condensed Bold"/>
                <a:cs typeface="Arial Nova Condensed Bold"/>
                <a:sym typeface="Arial Nova Condensed Bold"/>
              </a:rPr>
              <a:t>Problem Statement and Motivation</a:t>
            </a:r>
          </a:p>
          <a:p>
            <a:r>
              <a:rPr lang="en-US" sz="4400" b="1" dirty="0">
                <a:solidFill>
                  <a:srgbClr val="FFFFFF"/>
                </a:solidFill>
                <a:latin typeface="Arial Nova Condensed Bold"/>
                <a:ea typeface="Arial Nova Condensed Bold"/>
                <a:cs typeface="Arial Nova Condensed Bold"/>
                <a:sym typeface="Arial Nova Condensed Bold"/>
              </a:rPr>
              <a:t>Project Objectives</a:t>
            </a:r>
          </a:p>
          <a:p>
            <a:r>
              <a:rPr lang="en-US" sz="4400" b="1" dirty="0">
                <a:solidFill>
                  <a:srgbClr val="FFFFFF"/>
                </a:solidFill>
                <a:latin typeface="Arial Nova Condensed Bold"/>
                <a:ea typeface="Arial Nova Condensed Bold"/>
                <a:cs typeface="Arial Nova Condensed Bold"/>
                <a:sym typeface="Arial Nova Condensed Bold"/>
              </a:rPr>
              <a:t>Project Timeline</a:t>
            </a:r>
          </a:p>
          <a:p>
            <a:r>
              <a:rPr lang="en-US" sz="4400" b="1" dirty="0">
                <a:solidFill>
                  <a:srgbClr val="FFFFFF"/>
                </a:solidFill>
                <a:latin typeface="Arial Nova Condensed Bold"/>
                <a:ea typeface="Arial Nova Condensed Bold"/>
                <a:cs typeface="Arial Nova Condensed Bold"/>
                <a:sym typeface="Arial Nova Condensed Bold"/>
              </a:rPr>
              <a:t>Solutions and Systems Architecture</a:t>
            </a:r>
          </a:p>
          <a:p>
            <a:r>
              <a:rPr lang="en-US" sz="4400" b="1" dirty="0">
                <a:solidFill>
                  <a:srgbClr val="FFFFFF"/>
                </a:solidFill>
                <a:latin typeface="Arial Nova Condensed Bold"/>
                <a:ea typeface="Arial Nova Condensed Bold"/>
                <a:cs typeface="Arial Nova Condensed Bold"/>
                <a:sym typeface="Arial Nova Condensed Bold"/>
              </a:rPr>
              <a:t>Tools and Technologies Used</a:t>
            </a:r>
          </a:p>
          <a:p>
            <a:r>
              <a:rPr lang="en-US" sz="4400" b="1" dirty="0">
                <a:solidFill>
                  <a:srgbClr val="FFFFFF"/>
                </a:solidFill>
                <a:latin typeface="Arial Nova Condensed Bold"/>
                <a:ea typeface="Arial Nova Condensed Bold"/>
                <a:cs typeface="Arial Nova Condensed Bold"/>
                <a:sym typeface="Arial Nova Condensed Bold"/>
              </a:rPr>
              <a:t>Development Process</a:t>
            </a:r>
          </a:p>
          <a:p>
            <a:r>
              <a:rPr lang="en-US" sz="4400" b="1" dirty="0">
                <a:solidFill>
                  <a:srgbClr val="FFFFFF"/>
                </a:solidFill>
                <a:latin typeface="Arial Nova Condensed Bold"/>
                <a:ea typeface="Arial Nova Condensed Bold"/>
                <a:cs typeface="Arial Nova Condensed Bold"/>
                <a:sym typeface="Arial Nova Condensed Bold"/>
              </a:rPr>
              <a:t>Challenges Encountered and Resolutions</a:t>
            </a:r>
          </a:p>
        </p:txBody>
      </p:sp>
      <p:sp>
        <p:nvSpPr>
          <p:cNvPr id="12" name="Slide Number Placeholder 11">
            <a:extLst>
              <a:ext uri="{FF2B5EF4-FFF2-40B4-BE49-F238E27FC236}">
                <a16:creationId xmlns:a16="http://schemas.microsoft.com/office/drawing/2014/main" id="{0C09AFCE-9E84-59FA-BE3F-A8123005E7C6}"/>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15" name="Freeform 2">
            <a:extLst>
              <a:ext uri="{FF2B5EF4-FFF2-40B4-BE49-F238E27FC236}">
                <a16:creationId xmlns:a16="http://schemas.microsoft.com/office/drawing/2014/main" id="{22A4A616-86FD-87C9-36DF-EFFA279DB10F}"/>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18" name="TextBox 3">
            <a:extLst>
              <a:ext uri="{FF2B5EF4-FFF2-40B4-BE49-F238E27FC236}">
                <a16:creationId xmlns:a16="http://schemas.microsoft.com/office/drawing/2014/main" id="{737ECB10-8F56-ADEF-2993-5729DE752308}"/>
              </a:ext>
            </a:extLst>
          </p:cNvPr>
          <p:cNvSpPr txBox="1"/>
          <p:nvPr/>
        </p:nvSpPr>
        <p:spPr>
          <a:xfrm>
            <a:off x="533400" y="227377"/>
            <a:ext cx="16748695" cy="1145185"/>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Presentation Outline</a:t>
            </a:r>
          </a:p>
        </p:txBody>
      </p:sp>
      <p:sp>
        <p:nvSpPr>
          <p:cNvPr id="19" name="Content Placeholder 13">
            <a:extLst>
              <a:ext uri="{FF2B5EF4-FFF2-40B4-BE49-F238E27FC236}">
                <a16:creationId xmlns:a16="http://schemas.microsoft.com/office/drawing/2014/main" id="{30873529-ED4E-C333-003B-5AC497885E79}"/>
              </a:ext>
            </a:extLst>
          </p:cNvPr>
          <p:cNvSpPr txBox="1">
            <a:spLocks/>
          </p:cNvSpPr>
          <p:nvPr/>
        </p:nvSpPr>
        <p:spPr>
          <a:xfrm>
            <a:off x="9118271" y="1562207"/>
            <a:ext cx="8163824" cy="767874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4400" b="1" dirty="0">
                <a:solidFill>
                  <a:srgbClr val="FFFFFF"/>
                </a:solidFill>
                <a:latin typeface="Arial Nova Condensed Bold"/>
                <a:ea typeface="Arial Nova Condensed Bold"/>
                <a:cs typeface="Arial Nova Condensed Bold"/>
                <a:sym typeface="Arial Nova Condensed Bold"/>
              </a:rPr>
              <a:t>Results</a:t>
            </a:r>
          </a:p>
          <a:p>
            <a:r>
              <a:rPr lang="en-US" sz="4400" b="1" dirty="0">
                <a:solidFill>
                  <a:srgbClr val="FFFFFF"/>
                </a:solidFill>
                <a:latin typeface="Arial Nova Condensed Bold"/>
                <a:ea typeface="Arial Nova Condensed Bold"/>
                <a:cs typeface="Arial Nova Condensed Bold"/>
                <a:sym typeface="Arial Nova Condensed Bold"/>
              </a:rPr>
              <a:t>The Live Demonstration</a:t>
            </a:r>
          </a:p>
          <a:p>
            <a:r>
              <a:rPr lang="en-US" sz="4400" b="1" dirty="0">
                <a:solidFill>
                  <a:srgbClr val="FFFFFF"/>
                </a:solidFill>
                <a:latin typeface="Arial Nova Condensed Bold"/>
                <a:ea typeface="Arial Nova Condensed Bold"/>
                <a:cs typeface="Arial Nova Condensed Bold"/>
                <a:sym typeface="Arial Nova Condensed Bold"/>
              </a:rPr>
              <a:t>Future Scope and Impact</a:t>
            </a:r>
          </a:p>
          <a:p>
            <a:r>
              <a:rPr lang="en-US" sz="4400" b="1" dirty="0">
                <a:solidFill>
                  <a:srgbClr val="FFFFFF"/>
                </a:solidFill>
                <a:latin typeface="Arial Nova Condensed Bold"/>
                <a:ea typeface="Arial Nova Condensed Bold"/>
                <a:cs typeface="Arial Nova Condensed Bold"/>
                <a:sym typeface="Arial Nova Condensed Bold"/>
              </a:rPr>
              <a:t>Summary and Conclusion</a:t>
            </a:r>
          </a:p>
          <a:p>
            <a:r>
              <a:rPr lang="en-US" sz="4400" b="1" dirty="0">
                <a:solidFill>
                  <a:srgbClr val="FFFFFF"/>
                </a:solidFill>
                <a:latin typeface="Arial Nova Condensed Bold"/>
                <a:ea typeface="Arial Nova Condensed Bold"/>
                <a:cs typeface="Arial Nova Condensed Bold"/>
                <a:sym typeface="Arial Nova Condensed Bold"/>
              </a:rPr>
              <a:t>Project Contribution Breakdowns</a:t>
            </a:r>
          </a:p>
          <a:p>
            <a:r>
              <a:rPr lang="en-US" sz="4400" b="1" dirty="0">
                <a:solidFill>
                  <a:srgbClr val="FFFFFF"/>
                </a:solidFill>
                <a:latin typeface="Arial Nova Condensed Bold"/>
                <a:ea typeface="Arial Nova Condensed Bold"/>
                <a:cs typeface="Arial Nova Condensed Bold"/>
                <a:sym typeface="Arial Nova Condensed Bold"/>
              </a:rPr>
              <a:t>References</a:t>
            </a:r>
          </a:p>
          <a:p>
            <a:r>
              <a:rPr lang="en-US" sz="4400" b="1" dirty="0">
                <a:solidFill>
                  <a:srgbClr val="FFFFFF"/>
                </a:solidFill>
                <a:latin typeface="Arial Nova Condensed Bold"/>
                <a:ea typeface="Arial Nova Condensed Bold"/>
                <a:cs typeface="Arial Nova Condensed Bold"/>
                <a:sym typeface="Arial Nova Condensed Bold"/>
              </a:rPr>
              <a:t>Acknowledgment</a:t>
            </a:r>
          </a:p>
        </p:txBody>
      </p:sp>
    </p:spTree>
    <p:extLst>
      <p:ext uri="{BB962C8B-B14F-4D97-AF65-F5344CB8AC3E}">
        <p14:creationId xmlns:p14="http://schemas.microsoft.com/office/powerpoint/2010/main" val="1240153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92044" y="648102"/>
            <a:ext cx="16748695" cy="1193800"/>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Problem Statement and Motivation</a:t>
            </a:r>
          </a:p>
        </p:txBody>
      </p:sp>
      <p:sp>
        <p:nvSpPr>
          <p:cNvPr id="4" name="TextBox 4"/>
          <p:cNvSpPr txBox="1"/>
          <p:nvPr/>
        </p:nvSpPr>
        <p:spPr>
          <a:xfrm>
            <a:off x="571951" y="2408555"/>
            <a:ext cx="17344815" cy="2734945"/>
          </a:xfrm>
          <a:prstGeom prst="rect">
            <a:avLst/>
          </a:prstGeom>
        </p:spPr>
        <p:txBody>
          <a:bodyPr lIns="0" tIns="0" rIns="0" bIns="0" rtlCol="0" anchor="t">
            <a:spAutoFit/>
          </a:bodyPr>
          <a:lstStyle/>
          <a:p>
            <a:pPr marL="1122679" lvl="1" indent="-561340" algn="l">
              <a:lnSpc>
                <a:spcPts val="7279"/>
              </a:lnSpc>
              <a:buFont typeface="Arial"/>
              <a:buChar char="•"/>
            </a:pPr>
            <a:r>
              <a:t>• Students and recent graduates lack tools to create professional, ATS-optimized resumes, resulting in missed job opportunities despite having relevant qualifications.</a:t>
            </a:r>
          </a:p>
          <a:p>
            <a:pPr marL="1122679" lvl="1" indent="-561340" algn="l">
              <a:lnSpc>
                <a:spcPts val="7279"/>
              </a:lnSpc>
              <a:buFont typeface="Arial"/>
              <a:buChar char="•"/>
            </a:pPr>
            <a:r>
              <a:t>• Traditional job portals offer no intelligent matching — candidates must manually search through hundreds of listings without personalized compatibility analysis.</a:t>
            </a:r>
          </a:p>
          <a:p>
            <a:pPr marL="1122679" lvl="1" indent="-561340" algn="l">
              <a:lnSpc>
                <a:spcPts val="7279"/>
              </a:lnSpc>
              <a:buFont typeface="Arial"/>
              <a:buChar char="•"/>
            </a:pPr>
            <a:r>
              <a:t>• Employers spend excessive time filtering large applicant pools manually, lacking AI-assisted candidate screening tools to identify the best fits efficiently.</a:t>
            </a:r>
          </a:p>
        </p:txBody>
      </p:sp>
      <p:sp>
        <p:nvSpPr>
          <p:cNvPr id="5" name="TextBox 5"/>
          <p:cNvSpPr txBox="1"/>
          <p:nvPr/>
        </p:nvSpPr>
        <p:spPr>
          <a:xfrm>
            <a:off x="345861" y="8108319"/>
            <a:ext cx="13931940" cy="1698777"/>
          </a:xfrm>
          <a:prstGeom prst="rect">
            <a:avLst/>
          </a:prstGeom>
        </p:spPr>
        <p:txBody>
          <a:bodyPr lIns="0" tIns="0" rIns="0" bIns="0" rtlCol="0" anchor="t">
            <a:spAutoFit/>
          </a:bodyPr>
          <a:lstStyle/>
          <a:p>
            <a:pPr algn="l">
              <a:lnSpc>
                <a:spcPts val="4541"/>
              </a:lnSpc>
            </a:pPr>
            <a:r>
              <a:t>Industry research indicates that over 75% of resumes are rejected by Applicant Tracking Systems (ATS) before reaching a human recruiter, while junior candidates often spend 40+ hours per month on job applications. SmartCareer AI directly addresses this inefficiency by leveraging artificial intelligence to automate resume creation, deliver intelligent job matching, and streamline the entire application workflow for both candidates and employers.</a:t>
            </a:r>
          </a:p>
        </p:txBody>
      </p:sp>
      <p:sp>
        <p:nvSpPr>
          <p:cNvPr id="6" name="Slide Number Placeholder 5">
            <a:extLst>
              <a:ext uri="{FF2B5EF4-FFF2-40B4-BE49-F238E27FC236}">
                <a16:creationId xmlns:a16="http://schemas.microsoft.com/office/drawing/2014/main" id="{C37E714A-4114-A8C4-EE18-312B9366FE98}"/>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92044" y="648102"/>
            <a:ext cx="16748695" cy="1193800"/>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Project Objectives</a:t>
            </a:r>
          </a:p>
        </p:txBody>
      </p:sp>
      <p:sp>
        <p:nvSpPr>
          <p:cNvPr id="4" name="TextBox 4"/>
          <p:cNvSpPr txBox="1"/>
          <p:nvPr/>
        </p:nvSpPr>
        <p:spPr>
          <a:xfrm>
            <a:off x="571951" y="2408555"/>
            <a:ext cx="17344815" cy="2734945"/>
          </a:xfrm>
          <a:prstGeom prst="rect">
            <a:avLst/>
          </a:prstGeom>
        </p:spPr>
        <p:txBody>
          <a:bodyPr lIns="0" tIns="0" rIns="0" bIns="0" rtlCol="0" anchor="t">
            <a:spAutoFit/>
          </a:bodyPr>
          <a:lstStyle/>
          <a:p>
            <a:pPr marL="1122679" lvl="1" indent="-561340" algn="l">
              <a:lnSpc>
                <a:spcPts val="7279"/>
              </a:lnSpc>
              <a:buFont typeface="Arial"/>
              <a:buChar char="•"/>
            </a:pPr>
            <a:r>
              <a:t>1. Develop an AI-powered resume builder using OpenAI GPT-4 and Google Gemini, reducing manual effort by ~70%.</a:t>
            </a:r>
          </a:p>
          <a:p>
            <a:pPr marL="1122679" lvl="1" indent="-561340" algn="l">
              <a:lnSpc>
                <a:spcPts val="7279"/>
              </a:lnSpc>
              <a:buFont typeface="Arial"/>
              <a:buChar char="•"/>
            </a:pPr>
            <a:r>
              <a:t>2. Implement intelligent job matching with compatibility scores (0-100) and actionable recommendations.</a:t>
            </a:r>
          </a:p>
          <a:p>
            <a:pPr marL="1122679" lvl="1" indent="-561340" algn="l">
              <a:lnSpc>
                <a:spcPts val="7279"/>
              </a:lnSpc>
              <a:buFont typeface="Arial"/>
              <a:buChar char="•"/>
            </a:pPr>
            <a:r>
              <a:t>3. Build a multi-role platform (Student, Company/HR, Admin) with secure auth and application tracking.</a:t>
            </a:r>
          </a:p>
          <a:p>
            <a:pPr marL="1122679" lvl="1" indent="-561340" algn="l">
              <a:lnSpc>
                <a:spcPts val="7279"/>
              </a:lnSpc>
              <a:buFont typeface="Arial"/>
              <a:buChar char="•"/>
            </a:pPr>
            <a:r>
              <a:t>4. Integrate AI-driven cover letter generation tailored to specific job descriptions.</a:t>
            </a:r>
          </a:p>
          <a:p>
            <a:pPr marL="1122679" lvl="1" indent="-561340" algn="l">
              <a:lnSpc>
                <a:spcPts val="7279"/>
              </a:lnSpc>
              <a:buFont typeface="Arial"/>
              <a:buChar char="•"/>
            </a:pPr>
            <a:r>
              <a:t>5. Design a scalable architecture (FastAPI + Next.js) with CI/CD, monitoring, and deployment automation.</a:t>
            </a:r>
          </a:p>
        </p:txBody>
      </p:sp>
      <p:sp>
        <p:nvSpPr>
          <p:cNvPr id="5" name="TextBox 5"/>
          <p:cNvSpPr txBox="1"/>
          <p:nvPr/>
        </p:nvSpPr>
        <p:spPr>
          <a:xfrm>
            <a:off x="408744" y="8661324"/>
            <a:ext cx="13931940" cy="1127277"/>
          </a:xfrm>
          <a:prstGeom prst="rect">
            <a:avLst/>
          </a:prstGeom>
        </p:spPr>
        <p:txBody>
          <a:bodyPr lIns="0" tIns="0" rIns="0" bIns="0" rtlCol="0" anchor="t">
            <a:spAutoFit/>
          </a:bodyPr>
          <a:lstStyle/>
          <a:p>
            <a:pPr algn="l">
              <a:lnSpc>
                <a:spcPts val="4541"/>
              </a:lnSpc>
              <a:spcBef>
                <a:spcPct val="0"/>
              </a:spcBef>
            </a:pPr>
            <a:r>
              <a:t/>
            </a:r>
          </a:p>
        </p:txBody>
      </p:sp>
      <p:sp>
        <p:nvSpPr>
          <p:cNvPr id="6" name="Slide Number Placeholder 5">
            <a:extLst>
              <a:ext uri="{FF2B5EF4-FFF2-40B4-BE49-F238E27FC236}">
                <a16:creationId xmlns:a16="http://schemas.microsoft.com/office/drawing/2014/main" id="{06509324-0459-747D-FC53-5AFAF284C73C}"/>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42926BBE-917D-E4B7-FDD2-CE04EB66B4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441ABA-7C8E-3E8E-5A7F-0B4720EF02B4}"/>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01567D8B-BA63-D041-3EEA-62D25AAFCBB3}"/>
              </a:ext>
            </a:extLst>
          </p:cNvPr>
          <p:cNvSpPr txBox="1"/>
          <p:nvPr/>
        </p:nvSpPr>
        <p:spPr>
          <a:xfrm>
            <a:off x="792044" y="648102"/>
            <a:ext cx="16748695" cy="1145185"/>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Project Timeline</a:t>
            </a:r>
          </a:p>
        </p:txBody>
      </p:sp>
      <p:sp>
        <p:nvSpPr>
          <p:cNvPr id="5" name="TextBox 5">
            <a:extLst>
              <a:ext uri="{FF2B5EF4-FFF2-40B4-BE49-F238E27FC236}">
                <a16:creationId xmlns:a16="http://schemas.microsoft.com/office/drawing/2014/main" id="{EEEFE656-F5C1-B73A-A6B2-B3AD75B99C2C}"/>
              </a:ext>
            </a:extLst>
          </p:cNvPr>
          <p:cNvSpPr txBox="1"/>
          <p:nvPr/>
        </p:nvSpPr>
        <p:spPr>
          <a:xfrm>
            <a:off x="408744" y="8661324"/>
            <a:ext cx="13931940" cy="526747"/>
          </a:xfrm>
          <a:prstGeom prst="rect">
            <a:avLst/>
          </a:prstGeom>
        </p:spPr>
        <p:txBody>
          <a:bodyPr lIns="0" tIns="0" rIns="0" bIns="0" rtlCol="0" anchor="t">
            <a:spAutoFit/>
          </a:bodyPr>
          <a:lstStyle/>
          <a:p>
            <a:pPr>
              <a:lnSpc>
                <a:spcPts val="4541"/>
              </a:lnSpc>
              <a:spcBef>
                <a:spcPct val="0"/>
              </a:spcBef>
            </a:pPr>
            <a:r>
              <a:t>The project was executed over approximately 14 weeks using Agile methodology with two-week sprints:</a:t>
            </a:r>
          </a:p>
          <a:p>
            <a:pPr>
              <a:lnSpc>
                <a:spcPts val="4541"/>
              </a:lnSpc>
              <a:spcBef>
                <a:spcPct val="0"/>
              </a:spcBef>
            </a:pPr>
            <a:r>
              <a:t/>
            </a:r>
          </a:p>
          <a:p>
            <a:pPr>
              <a:lnSpc>
                <a:spcPts val="4541"/>
              </a:lnSpc>
              <a:spcBef>
                <a:spcPct val="0"/>
              </a:spcBef>
            </a:pPr>
            <a:r>
              <a:t>Phase 1 — Discovery &amp; Design (Weeks 1–2): Requirements analysis, system architecture, database schema design, and project setup.</a:t>
            </a:r>
          </a:p>
          <a:p>
            <a:pPr>
              <a:lnSpc>
                <a:spcPts val="4541"/>
              </a:lnSpc>
              <a:spcBef>
                <a:spcPct val="0"/>
              </a:spcBef>
            </a:pPr>
            <a:r>
              <a:t/>
            </a:r>
          </a:p>
          <a:p>
            <a:pPr>
              <a:lnSpc>
                <a:spcPts val="4541"/>
              </a:lnSpc>
              <a:spcBef>
                <a:spcPct val="0"/>
              </a:spcBef>
            </a:pPr>
            <a:r>
              <a:t>Phase 2 — Backend Foundation (Weeks 3–5): FastAPI setup, JWT + OAuth2 authentication, SQLAlchemy models, and core API endpoints.</a:t>
            </a:r>
          </a:p>
          <a:p>
            <a:pPr>
              <a:lnSpc>
                <a:spcPts val="4541"/>
              </a:lnSpc>
              <a:spcBef>
                <a:spcPct val="0"/>
              </a:spcBef>
            </a:pPr>
            <a:r>
              <a:t/>
            </a:r>
          </a:p>
          <a:p>
            <a:pPr>
              <a:lnSpc>
                <a:spcPts val="4541"/>
              </a:lnSpc>
              <a:spcBef>
                <a:spcPct val="0"/>
              </a:spcBef>
            </a:pPr>
            <a:r>
              <a:t>Phase 3 — AI Integration (Weeks 6–8): OpenAI and Gemini service implementation, resume generation, job matching algorithm, ATS scoring, and cover letter generator.</a:t>
            </a:r>
          </a:p>
          <a:p>
            <a:pPr>
              <a:lnSpc>
                <a:spcPts val="4541"/>
              </a:lnSpc>
              <a:spcBef>
                <a:spcPct val="0"/>
              </a:spcBef>
            </a:pPr>
            <a:r>
              <a:t/>
            </a:r>
          </a:p>
          <a:p>
            <a:pPr>
              <a:lnSpc>
                <a:spcPts val="4541"/>
              </a:lnSpc>
              <a:spcBef>
                <a:spcPct val="0"/>
              </a:spcBef>
            </a:pPr>
            <a:r>
              <a:t>Phase 4 — Frontend Development (Weeks 9–11): Next.js 14 setup, student dashboard, company HR portal, admin panel, and responsive UI with Tailwind CSS.</a:t>
            </a:r>
          </a:p>
          <a:p>
            <a:pPr>
              <a:lnSpc>
                <a:spcPts val="4541"/>
              </a:lnSpc>
              <a:spcBef>
                <a:spcPct val="0"/>
              </a:spcBef>
            </a:pPr>
            <a:r>
              <a:t/>
            </a:r>
          </a:p>
          <a:p>
            <a:pPr>
              <a:lnSpc>
                <a:spcPts val="4541"/>
              </a:lnSpc>
              <a:spcBef>
                <a:spcPct val="0"/>
              </a:spcBef>
            </a:pPr>
            <a:r>
              <a:t>Phase 5 — Testing &amp; Deployment (Weeks 12–13): Pytest unit tests, Playwright E2E tests, GitHub Actions CI/CD, Docker containerization, and deployment to Render and Vercel.</a:t>
            </a:r>
          </a:p>
          <a:p>
            <a:pPr>
              <a:lnSpc>
                <a:spcPts val="4541"/>
              </a:lnSpc>
              <a:spcBef>
                <a:spcPct val="0"/>
              </a:spcBef>
            </a:pPr>
            <a:r>
              <a:t/>
            </a:r>
          </a:p>
          <a:p>
            <a:pPr>
              <a:lnSpc>
                <a:spcPts val="4541"/>
              </a:lnSpc>
              <a:spcBef>
                <a:spcPct val="0"/>
              </a:spcBef>
            </a:pPr>
            <a:r>
              <a:t>Phase 6 — Finalization (Week 14): Final testing, documentation, and presentation preparation.</a:t>
            </a:r>
          </a:p>
        </p:txBody>
      </p:sp>
      <p:sp>
        <p:nvSpPr>
          <p:cNvPr id="6" name="Slide Number Placeholder 5">
            <a:extLst>
              <a:ext uri="{FF2B5EF4-FFF2-40B4-BE49-F238E27FC236}">
                <a16:creationId xmlns:a16="http://schemas.microsoft.com/office/drawing/2014/main" id="{A7810921-1EC5-58A4-F213-1B871EBFE818}"/>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48887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Solutions and Systems Architecture</a:t>
            </a:r>
          </a:p>
        </p:txBody>
      </p:sp>
      <p:sp>
        <p:nvSpPr>
          <p:cNvPr id="4" name="Slide Number Placeholder 3">
            <a:extLst>
              <a:ext uri="{FF2B5EF4-FFF2-40B4-BE49-F238E27FC236}">
                <a16:creationId xmlns:a16="http://schemas.microsoft.com/office/drawing/2014/main" id="{EA2591CE-2B32-C907-3BA2-20034B7CBA32}"/>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System Architecture Overview</a:t>
            </a:r>
          </a:p>
        </p:txBody>
      </p:sp>
      <p:sp>
        <p:nvSpPr>
          <p:cNvPr id="4" name="TextBox 4"/>
          <p:cNvSpPr txBox="1"/>
          <p:nvPr/>
        </p:nvSpPr>
        <p:spPr>
          <a:xfrm>
            <a:off x="330140" y="8108319"/>
            <a:ext cx="13931940" cy="1698777"/>
          </a:xfrm>
          <a:prstGeom prst="rect">
            <a:avLst/>
          </a:prstGeom>
        </p:spPr>
        <p:txBody>
          <a:bodyPr lIns="0" tIns="0" rIns="0" bIns="0" rtlCol="0" anchor="t">
            <a:spAutoFit/>
          </a:bodyPr>
          <a:lstStyle/>
          <a:p>
            <a:pPr algn="l">
              <a:lnSpc>
                <a:spcPts val="4541"/>
              </a:lnSpc>
              <a:spcBef>
                <a:spcPct val="0"/>
              </a:spcBef>
            </a:pPr>
            <a:r>
              <a:t>SmartCareer AI follows a modern client-server architecture with three layers:</a:t>
            </a:r>
          </a:p>
          <a:p>
            <a:pPr algn="l">
              <a:lnSpc>
                <a:spcPts val="4541"/>
              </a:lnSpc>
              <a:spcBef>
                <a:spcPct val="0"/>
              </a:spcBef>
            </a:pPr>
            <a:r>
              <a:t/>
            </a:r>
          </a:p>
          <a:p>
            <a:pPr algn="l">
              <a:lnSpc>
                <a:spcPts val="4541"/>
              </a:lnSpc>
              <a:spcBef>
                <a:spcPct val="0"/>
              </a:spcBef>
            </a:pPr>
            <a:r>
              <a:t>Frontend Layer (Next.js 14 + React 18):</a:t>
            </a:r>
          </a:p>
          <a:p>
            <a:pPr algn="l">
              <a:lnSpc>
                <a:spcPts val="4541"/>
              </a:lnSpc>
              <a:spcBef>
                <a:spcPct val="0"/>
              </a:spcBef>
            </a:pPr>
            <a:r>
              <a:t>Server-side rendering for SEO, Zustand state management, Tailwind CSS responsive design, Axios for API communication, Radix UI accessible components.</a:t>
            </a:r>
          </a:p>
          <a:p>
            <a:pPr algn="l">
              <a:lnSpc>
                <a:spcPts val="4541"/>
              </a:lnSpc>
              <a:spcBef>
                <a:spcPct val="0"/>
              </a:spcBef>
            </a:pPr>
            <a:r>
              <a:t/>
            </a:r>
          </a:p>
          <a:p>
            <a:pPr algn="l">
              <a:lnSpc>
                <a:spcPts val="4541"/>
              </a:lnSpc>
              <a:spcBef>
                <a:spcPct val="0"/>
              </a:spcBef>
            </a:pPr>
            <a:r>
              <a:t>Backend API Layer (FastAPI + Python):</a:t>
            </a:r>
          </a:p>
          <a:p>
            <a:pPr algn="l">
              <a:lnSpc>
                <a:spcPts val="4541"/>
              </a:lnSpc>
              <a:spcBef>
                <a:spcPct val="0"/>
              </a:spcBef>
            </a:pPr>
            <a:r>
              <a:t>Versioned REST endpoints (/api/v1/), JWT authentication, role-based access control, Pydantic validation, CORS/security middleware, GZip compression, request ID tracking.</a:t>
            </a:r>
          </a:p>
          <a:p>
            <a:pPr algn="l">
              <a:lnSpc>
                <a:spcPts val="4541"/>
              </a:lnSpc>
              <a:spcBef>
                <a:spcPct val="0"/>
              </a:spcBef>
            </a:pPr>
            <a:r>
              <a:t/>
            </a:r>
          </a:p>
          <a:p>
            <a:pPr algn="l">
              <a:lnSpc>
                <a:spcPts val="4541"/>
              </a:lnSpc>
              <a:spcBef>
                <a:spcPct val="0"/>
              </a:spcBef>
            </a:pPr>
            <a:r>
              <a:t>Data &amp; AI Layer:</a:t>
            </a:r>
          </a:p>
          <a:p>
            <a:pPr algn="l">
              <a:lnSpc>
                <a:spcPts val="4541"/>
              </a:lnSpc>
              <a:spcBef>
                <a:spcPct val="0"/>
              </a:spcBef>
            </a:pPr>
            <a:r>
              <a:t>PostgreSQL via SQLAlchemy ORM, Alembic migrations, dual AI provider (Gemini primary + OpenAI fallback), Redis for caching/rate limiting, Sentry error monitoring.</a:t>
            </a:r>
          </a:p>
        </p:txBody>
      </p:sp>
      <p:sp>
        <p:nvSpPr>
          <p:cNvPr id="5" name="Slide Number Placeholder 4">
            <a:extLst>
              <a:ext uri="{FF2B5EF4-FFF2-40B4-BE49-F238E27FC236}">
                <a16:creationId xmlns:a16="http://schemas.microsoft.com/office/drawing/2014/main" id="{4DA0D847-4566-CBA7-31C8-D02AC4E1476F}"/>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API Structure and Endpoints</a:t>
            </a:r>
          </a:p>
        </p:txBody>
      </p:sp>
      <p:sp>
        <p:nvSpPr>
          <p:cNvPr id="4" name="TextBox 4"/>
          <p:cNvSpPr txBox="1"/>
          <p:nvPr/>
        </p:nvSpPr>
        <p:spPr>
          <a:xfrm>
            <a:off x="330140" y="8108319"/>
            <a:ext cx="13931940" cy="1698777"/>
          </a:xfrm>
          <a:prstGeom prst="rect">
            <a:avLst/>
          </a:prstGeom>
        </p:spPr>
        <p:txBody>
          <a:bodyPr lIns="0" tIns="0" rIns="0" bIns="0" rtlCol="0" anchor="t">
            <a:spAutoFit/>
          </a:bodyPr>
          <a:lstStyle/>
          <a:p>
            <a:pPr algn="l">
              <a:lnSpc>
                <a:spcPts val="4541"/>
              </a:lnSpc>
              <a:spcBef>
                <a:spcPct val="0"/>
              </a:spcBef>
            </a:pPr>
            <a:r>
              <a:t>The backend exposes ten versioned API modules under /api/v1/:</a:t>
            </a:r>
          </a:p>
          <a:p>
            <a:pPr algn="l">
              <a:lnSpc>
                <a:spcPts val="4541"/>
              </a:lnSpc>
              <a:spcBef>
                <a:spcPct val="0"/>
              </a:spcBef>
            </a:pPr>
            <a:r>
              <a:t/>
            </a:r>
          </a:p>
          <a:p>
            <a:pPr algn="l">
              <a:lnSpc>
                <a:spcPts val="4541"/>
              </a:lnSpc>
              <a:spcBef>
                <a:spcPct val="0"/>
              </a:spcBef>
            </a:pPr>
            <a:r>
              <a:t>• /auth — Registration, login, email verification, password reset, OAuth2 (Google)</a:t>
            </a:r>
          </a:p>
          <a:p>
            <a:pPr algn="l">
              <a:lnSpc>
                <a:spcPts val="4541"/>
              </a:lnSpc>
              <a:spcBef>
                <a:spcPct val="0"/>
              </a:spcBef>
            </a:pPr>
            <a:r>
              <a:t>• /users — User profile management and role-based access</a:t>
            </a:r>
          </a:p>
          <a:p>
            <a:pPr algn="l">
              <a:lnSpc>
                <a:spcPts val="4541"/>
              </a:lnSpc>
              <a:spcBef>
                <a:spcPct val="0"/>
              </a:spcBef>
            </a:pPr>
            <a:r>
              <a:t>• /resumes — Manual resume CRUD and AI resume generation with ATS scoring</a:t>
            </a:r>
          </a:p>
          <a:p>
            <a:pPr algn="l">
              <a:lnSpc>
                <a:spcPts val="4541"/>
              </a:lnSpc>
              <a:spcBef>
                <a:spcPct val="0"/>
              </a:spcBef>
            </a:pPr>
            <a:r>
              <a:t>• /jobs — Job posting CRUD, search, filtering, publish/unpublish workflows</a:t>
            </a:r>
          </a:p>
          <a:p>
            <a:pPr algn="l">
              <a:lnSpc>
                <a:spcPts val="4541"/>
              </a:lnSpc>
              <a:spcBef>
                <a:spcPct val="0"/>
              </a:spcBef>
            </a:pPr>
            <a:r>
              <a:t>• /applications — Job applications and status tracking pipeline (reviewing → shortlisted → interview → accepted/rejected)</a:t>
            </a:r>
          </a:p>
          <a:p>
            <a:pPr algn="l">
              <a:lnSpc>
                <a:spcPts val="4541"/>
              </a:lnSpc>
              <a:spcBef>
                <a:spcPct val="0"/>
              </a:spcBef>
            </a:pPr>
            <a:r>
              <a:t>• /ai — AI Resume Generator, Resume Analyzer, Cover Letter Generator, Job Matcher</a:t>
            </a:r>
          </a:p>
          <a:p>
            <a:pPr algn="l">
              <a:lnSpc>
                <a:spcPts val="4541"/>
              </a:lnSpc>
              <a:spcBef>
                <a:spcPct val="0"/>
              </a:spcBef>
            </a:pPr>
            <a:r>
              <a:t>• /admin — System health, user management, and error monitoring dashboard</a:t>
            </a:r>
          </a:p>
          <a:p>
            <a:pPr algn="l">
              <a:lnSpc>
                <a:spcPts val="4541"/>
              </a:lnSpc>
              <a:spcBef>
                <a:spcPct val="0"/>
              </a:spcBef>
            </a:pPr>
            <a:r>
              <a:t>• /payments — Stripe subscription and billing management</a:t>
            </a:r>
          </a:p>
          <a:p>
            <a:pPr algn="l">
              <a:lnSpc>
                <a:spcPts val="4541"/>
              </a:lnSpc>
              <a:spcBef>
                <a:spcPct val="0"/>
              </a:spcBef>
            </a:pPr>
            <a:r>
              <a:t>• /notifications — Real-time in-app notification system</a:t>
            </a:r>
          </a:p>
          <a:p>
            <a:pPr algn="l">
              <a:lnSpc>
                <a:spcPts val="4541"/>
              </a:lnSpc>
              <a:spcBef>
                <a:spcPct val="0"/>
              </a:spcBef>
            </a:pPr>
            <a:r>
              <a:t>• /saved-searches — Persistent search filters for users</a:t>
            </a:r>
          </a:p>
          <a:p>
            <a:pPr algn="l">
              <a:lnSpc>
                <a:spcPts val="4541"/>
              </a:lnSpc>
              <a:spcBef>
                <a:spcPct val="0"/>
              </a:spcBef>
            </a:pPr>
            <a:r>
              <a:t/>
            </a:r>
          </a:p>
          <a:p>
            <a:pPr algn="l">
              <a:lnSpc>
                <a:spcPts val="4541"/>
              </a:lnSpc>
              <a:spcBef>
                <a:spcPct val="0"/>
              </a:spcBef>
            </a:pPr>
            <a:r>
              <a:t>All endpoints provide auto-generated Swagger/ReDoc documentation, Pydantic request validation, structured error envelopes with request IDs, and security headers (HSTS, CSP, X-Frame-Options, XSS protection).</a:t>
            </a:r>
          </a:p>
        </p:txBody>
      </p:sp>
      <p:sp>
        <p:nvSpPr>
          <p:cNvPr id="5" name="Slide Number Placeholder 4">
            <a:extLst>
              <a:ext uri="{FF2B5EF4-FFF2-40B4-BE49-F238E27FC236}">
                <a16:creationId xmlns:a16="http://schemas.microsoft.com/office/drawing/2014/main" id="{27AA3DC2-B25D-B720-61FE-D75A897AE18C}"/>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AI Service Architecture</a:t>
            </a:r>
          </a:p>
        </p:txBody>
      </p:sp>
      <p:sp>
        <p:nvSpPr>
          <p:cNvPr id="4" name="TextBox 4"/>
          <p:cNvSpPr txBox="1"/>
          <p:nvPr/>
        </p:nvSpPr>
        <p:spPr>
          <a:xfrm>
            <a:off x="330140" y="8108319"/>
            <a:ext cx="13931940" cy="1698777"/>
          </a:xfrm>
          <a:prstGeom prst="rect">
            <a:avLst/>
          </a:prstGeom>
        </p:spPr>
        <p:txBody>
          <a:bodyPr lIns="0" tIns="0" rIns="0" bIns="0" rtlCol="0" anchor="t">
            <a:spAutoFit/>
          </a:bodyPr>
          <a:lstStyle/>
          <a:p>
            <a:pPr algn="l">
              <a:lnSpc>
                <a:spcPts val="4541"/>
              </a:lnSpc>
              <a:spcBef>
                <a:spcPct val="0"/>
              </a:spcBef>
            </a:pPr>
            <a:r>
              <a:t>Provider-agnostic design with automatic failover:</a:t>
            </a:r>
          </a:p>
          <a:p>
            <a:pPr algn="l">
              <a:lnSpc>
                <a:spcPts val="4541"/>
              </a:lnSpc>
              <a:spcBef>
                <a:spcPct val="0"/>
              </a:spcBef>
            </a:pPr>
            <a:r>
              <a:t/>
            </a:r>
          </a:p>
          <a:p>
            <a:pPr algn="l">
              <a:lnSpc>
                <a:spcPts val="4541"/>
              </a:lnSpc>
              <a:spcBef>
                <a:spcPct val="0"/>
              </a:spcBef>
            </a:pPr>
            <a:r>
              <a:t>Resume Generation Pipeline:</a:t>
            </a:r>
          </a:p>
          <a:p>
            <a:pPr algn="l">
              <a:lnSpc>
                <a:spcPts val="4541"/>
              </a:lnSpc>
              <a:spcBef>
                <a:spcPct val="0"/>
              </a:spcBef>
            </a:pPr>
            <a:r>
              <a:t>User Input → Data Extraction → Prompt Construction → AI Provider (Gemini/GPT-4) → JSON Validation → Content Normalization → ATS Score → DB Storage → PDF Export</a:t>
            </a:r>
          </a:p>
          <a:p>
            <a:pPr algn="l">
              <a:lnSpc>
                <a:spcPts val="4541"/>
              </a:lnSpc>
              <a:spcBef>
                <a:spcPct val="0"/>
              </a:spcBef>
            </a:pPr>
            <a:r>
              <a:t/>
            </a:r>
          </a:p>
          <a:p>
            <a:pPr algn="l">
              <a:lnSpc>
                <a:spcPts val="4541"/>
              </a:lnSpc>
              <a:spcBef>
                <a:spcPct val="0"/>
              </a:spcBef>
            </a:pPr>
            <a:r>
              <a:t>Job Matching Pipeline:</a:t>
            </a:r>
          </a:p>
          <a:p>
            <a:pPr algn="l">
              <a:lnSpc>
                <a:spcPts val="4541"/>
              </a:lnSpc>
              <a:spcBef>
                <a:spcPct val="0"/>
              </a:spcBef>
            </a:pPr>
            <a:r>
              <a:t>Resume → Skill Extraction → Experience Analysis → Keyword Extraction → Score Calculation against Active Jobs → Ranked Results with Match Reasons</a:t>
            </a:r>
          </a:p>
          <a:p>
            <a:pPr algn="l">
              <a:lnSpc>
                <a:spcPts val="4541"/>
              </a:lnSpc>
              <a:spcBef>
                <a:spcPct val="0"/>
              </a:spcBef>
            </a:pPr>
            <a:r>
              <a:t/>
            </a:r>
          </a:p>
          <a:p>
            <a:pPr algn="l">
              <a:lnSpc>
                <a:spcPts val="4541"/>
              </a:lnSpc>
              <a:spcBef>
                <a:spcPct val="0"/>
              </a:spcBef>
            </a:pPr>
            <a:r>
              <a:t>Cover Letter Generation:</a:t>
            </a:r>
          </a:p>
          <a:p>
            <a:pPr algn="l">
              <a:lnSpc>
                <a:spcPts val="4541"/>
              </a:lnSpc>
              <a:spcBef>
                <a:spcPct val="0"/>
              </a:spcBef>
            </a:pPr>
            <a:r>
              <a:t>Resume + Job Description + Company Info → Structured Prompt → AI Generation → Key Points + Match Score</a:t>
            </a:r>
          </a:p>
          <a:p>
            <a:pPr algn="l">
              <a:lnSpc>
                <a:spcPts val="4541"/>
              </a:lnSpc>
              <a:spcBef>
                <a:spcPct val="0"/>
              </a:spcBef>
            </a:pPr>
            <a:r>
              <a:t/>
            </a:r>
          </a:p>
          <a:p>
            <a:pPr algn="l">
              <a:lnSpc>
                <a:spcPts val="4541"/>
              </a:lnSpc>
              <a:spcBef>
                <a:spcPct val="0"/>
              </a:spcBef>
            </a:pPr>
            <a:r>
              <a:t>Failover: Gemini (free) → OpenAI GPT-4 (paid) → Error with config guidance</a:t>
            </a:r>
          </a:p>
          <a:p>
            <a:pPr algn="l">
              <a:lnSpc>
                <a:spcPts val="4541"/>
              </a:lnSpc>
              <a:spcBef>
                <a:spcPct val="0"/>
              </a:spcBef>
            </a:pPr>
            <a:r>
              <a:t>All responses are JSON-validated and stored with metadata (provider, model, time, tokens).</a:t>
            </a:r>
          </a:p>
        </p:txBody>
      </p:sp>
      <p:sp>
        <p:nvSpPr>
          <p:cNvPr id="5" name="Slide Number Placeholder 4">
            <a:extLst>
              <a:ext uri="{FF2B5EF4-FFF2-40B4-BE49-F238E27FC236}">
                <a16:creationId xmlns:a16="http://schemas.microsoft.com/office/drawing/2014/main" id="{989EC5C1-D8D8-FE21-6F74-C60F514C5DF1}"/>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Tools and Technologies Used</a:t>
            </a:r>
          </a:p>
        </p:txBody>
      </p:sp>
      <p:sp>
        <p:nvSpPr>
          <p:cNvPr id="4" name="Slide Number Placeholder 3">
            <a:extLst>
              <a:ext uri="{FF2B5EF4-FFF2-40B4-BE49-F238E27FC236}">
                <a16:creationId xmlns:a16="http://schemas.microsoft.com/office/drawing/2014/main" id="{7B45B6A5-E6FE-C0ED-45FE-580B6BA29322}"/>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Backend Technologies</a:t>
            </a:r>
          </a:p>
        </p:txBody>
      </p:sp>
      <p:sp>
        <p:nvSpPr>
          <p:cNvPr id="4" name="TextBox 4"/>
          <p:cNvSpPr txBox="1"/>
          <p:nvPr/>
        </p:nvSpPr>
        <p:spPr>
          <a:xfrm>
            <a:off x="345861" y="8108319"/>
            <a:ext cx="14552075" cy="1698777"/>
          </a:xfrm>
          <a:prstGeom prst="rect">
            <a:avLst/>
          </a:prstGeom>
        </p:spPr>
        <p:txBody>
          <a:bodyPr lIns="0" tIns="0" rIns="0" bIns="0" rtlCol="0" anchor="t">
            <a:spAutoFit/>
          </a:bodyPr>
          <a:lstStyle/>
          <a:p>
            <a:pPr algn="l">
              <a:lnSpc>
                <a:spcPts val="4541"/>
              </a:lnSpc>
              <a:spcBef>
                <a:spcPct val="0"/>
              </a:spcBef>
            </a:pPr>
            <a:r>
              <a:t>• FastAPI 0.104 — High-performance Python web framework with automatic OpenAPI docs</a:t>
            </a:r>
          </a:p>
          <a:p>
            <a:pPr algn="l">
              <a:lnSpc>
                <a:spcPts val="4541"/>
              </a:lnSpc>
              <a:spcBef>
                <a:spcPct val="0"/>
              </a:spcBef>
            </a:pPr>
            <a:r>
              <a:t/>
            </a:r>
          </a:p>
          <a:p>
            <a:pPr algn="l">
              <a:lnSpc>
                <a:spcPts val="4541"/>
              </a:lnSpc>
              <a:spcBef>
                <a:spcPct val="0"/>
              </a:spcBef>
            </a:pPr>
            <a:r>
              <a:t>• SQLAlchemy 2.0 — ORM for database operations with PostgreSQL and SQLite</a:t>
            </a:r>
          </a:p>
          <a:p>
            <a:pPr algn="l">
              <a:lnSpc>
                <a:spcPts val="4541"/>
              </a:lnSpc>
              <a:spcBef>
                <a:spcPct val="0"/>
              </a:spcBef>
            </a:pPr>
            <a:r>
              <a:t/>
            </a:r>
          </a:p>
          <a:p>
            <a:pPr algn="l">
              <a:lnSpc>
                <a:spcPts val="4541"/>
              </a:lnSpc>
              <a:spcBef>
                <a:spcPct val="0"/>
              </a:spcBef>
            </a:pPr>
            <a:r>
              <a:t>• Alembic 1.12 — Database migration tool for version-controlled schema changes</a:t>
            </a:r>
          </a:p>
          <a:p>
            <a:pPr algn="l">
              <a:lnSpc>
                <a:spcPts val="4541"/>
              </a:lnSpc>
              <a:spcBef>
                <a:spcPct val="0"/>
              </a:spcBef>
            </a:pPr>
            <a:r>
              <a:t/>
            </a:r>
          </a:p>
          <a:p>
            <a:pPr algn="l">
              <a:lnSpc>
                <a:spcPts val="4541"/>
              </a:lnSpc>
              <a:spcBef>
                <a:spcPct val="0"/>
              </a:spcBef>
            </a:pPr>
            <a:r>
              <a:t>• JWT (python-jose) — JSON Web Token authentication with secure token management</a:t>
            </a:r>
          </a:p>
          <a:p>
            <a:pPr algn="l">
              <a:lnSpc>
                <a:spcPts val="4541"/>
              </a:lnSpc>
              <a:spcBef>
                <a:spcPct val="0"/>
              </a:spcBef>
            </a:pPr>
            <a:r>
              <a:t/>
            </a:r>
          </a:p>
          <a:p>
            <a:pPr algn="l">
              <a:lnSpc>
                <a:spcPts val="4541"/>
              </a:lnSpc>
              <a:spcBef>
                <a:spcPct val="0"/>
              </a:spcBef>
            </a:pPr>
            <a:r>
              <a:t>• Pydantic 2.5 — Data validation and settings management via Python type hints</a:t>
            </a:r>
          </a:p>
          <a:p>
            <a:pPr algn="l">
              <a:lnSpc>
                <a:spcPts val="4541"/>
              </a:lnSpc>
              <a:spcBef>
                <a:spcPct val="0"/>
              </a:spcBef>
            </a:pPr>
            <a:r>
              <a:t/>
            </a:r>
          </a:p>
          <a:p>
            <a:pPr algn="l">
              <a:lnSpc>
                <a:spcPts val="4541"/>
              </a:lnSpc>
              <a:spcBef>
                <a:spcPct val="0"/>
              </a:spcBef>
            </a:pPr>
            <a:r>
              <a:t>• PostgreSQL — Production-grade relational database</a:t>
            </a:r>
          </a:p>
          <a:p>
            <a:pPr algn="l">
              <a:lnSpc>
                <a:spcPts val="4541"/>
              </a:lnSpc>
              <a:spcBef>
                <a:spcPct val="0"/>
              </a:spcBef>
            </a:pPr>
            <a:r>
              <a:t/>
            </a:r>
          </a:p>
          <a:p>
            <a:pPr algn="l">
              <a:lnSpc>
                <a:spcPts val="4541"/>
              </a:lnSpc>
              <a:spcBef>
                <a:spcPct val="0"/>
              </a:spcBef>
            </a:pPr>
            <a:r>
              <a:t>• Redis 5.0 — In-memory store for rate limiting, token blacklisting, OAuth state</a:t>
            </a:r>
          </a:p>
          <a:p>
            <a:pPr algn="l">
              <a:lnSpc>
                <a:spcPts val="4541"/>
              </a:lnSpc>
              <a:spcBef>
                <a:spcPct val="0"/>
              </a:spcBef>
            </a:pPr>
            <a:r>
              <a:t/>
            </a:r>
          </a:p>
          <a:p>
            <a:pPr algn="l">
              <a:lnSpc>
                <a:spcPts val="4541"/>
              </a:lnSpc>
              <a:spcBef>
                <a:spcPct val="0"/>
              </a:spcBef>
            </a:pPr>
            <a:r>
              <a:t>• Gunicorn — Production WSGI server for FastAPI deployment</a:t>
            </a:r>
          </a:p>
        </p:txBody>
      </p:sp>
      <p:sp>
        <p:nvSpPr>
          <p:cNvPr id="5" name="Slide Number Placeholder 4">
            <a:extLst>
              <a:ext uri="{FF2B5EF4-FFF2-40B4-BE49-F238E27FC236}">
                <a16:creationId xmlns:a16="http://schemas.microsoft.com/office/drawing/2014/main" id="{7591DBC7-2DB6-A7EC-91C8-AB45113CBFDB}"/>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Frontend Technologies</a:t>
            </a:r>
          </a:p>
        </p:txBody>
      </p:sp>
      <p:sp>
        <p:nvSpPr>
          <p:cNvPr id="4" name="TextBox 4"/>
          <p:cNvSpPr txBox="1"/>
          <p:nvPr/>
        </p:nvSpPr>
        <p:spPr>
          <a:xfrm>
            <a:off x="345861" y="8108319"/>
            <a:ext cx="14552075" cy="1698777"/>
          </a:xfrm>
          <a:prstGeom prst="rect">
            <a:avLst/>
          </a:prstGeom>
        </p:spPr>
        <p:txBody>
          <a:bodyPr lIns="0" tIns="0" rIns="0" bIns="0" rtlCol="0" anchor="t">
            <a:spAutoFit/>
          </a:bodyPr>
          <a:lstStyle/>
          <a:p>
            <a:pPr algn="l">
              <a:lnSpc>
                <a:spcPts val="4541"/>
              </a:lnSpc>
              <a:spcBef>
                <a:spcPct val="0"/>
              </a:spcBef>
            </a:pPr>
            <a:r>
              <a:t>• Next.js 14 — React framework with SSR, routing, and optimization</a:t>
            </a:r>
          </a:p>
          <a:p>
            <a:pPr algn="l">
              <a:lnSpc>
                <a:spcPts val="4541"/>
              </a:lnSpc>
              <a:spcBef>
                <a:spcPct val="0"/>
              </a:spcBef>
            </a:pPr>
            <a:r>
              <a:t/>
            </a:r>
          </a:p>
          <a:p>
            <a:pPr algn="l">
              <a:lnSpc>
                <a:spcPts val="4541"/>
              </a:lnSpc>
              <a:spcBef>
                <a:spcPct val="0"/>
              </a:spcBef>
            </a:pPr>
            <a:r>
              <a:t>• React 18 — Component-based UI library with hooks and concurrent features</a:t>
            </a:r>
          </a:p>
          <a:p>
            <a:pPr algn="l">
              <a:lnSpc>
                <a:spcPts val="4541"/>
              </a:lnSpc>
              <a:spcBef>
                <a:spcPct val="0"/>
              </a:spcBef>
            </a:pPr>
            <a:r>
              <a:t/>
            </a:r>
          </a:p>
          <a:p>
            <a:pPr algn="l">
              <a:lnSpc>
                <a:spcPts val="4541"/>
              </a:lnSpc>
              <a:spcBef>
                <a:spcPct val="0"/>
              </a:spcBef>
            </a:pPr>
            <a:r>
              <a:t>• TypeScript 5.4 — Typed superset of JavaScript for improved code quality</a:t>
            </a:r>
          </a:p>
          <a:p>
            <a:pPr algn="l">
              <a:lnSpc>
                <a:spcPts val="4541"/>
              </a:lnSpc>
              <a:spcBef>
                <a:spcPct val="0"/>
              </a:spcBef>
            </a:pPr>
            <a:r>
              <a:t/>
            </a:r>
          </a:p>
          <a:p>
            <a:pPr algn="l">
              <a:lnSpc>
                <a:spcPts val="4541"/>
              </a:lnSpc>
              <a:spcBef>
                <a:spcPct val="0"/>
              </a:spcBef>
            </a:pPr>
            <a:r>
              <a:t>• Tailwind CSS 3.4 — Utility-first CSS framework for rapid responsive design</a:t>
            </a:r>
          </a:p>
          <a:p>
            <a:pPr algn="l">
              <a:lnSpc>
                <a:spcPts val="4541"/>
              </a:lnSpc>
              <a:spcBef>
                <a:spcPct val="0"/>
              </a:spcBef>
            </a:pPr>
            <a:r>
              <a:t/>
            </a:r>
          </a:p>
          <a:p>
            <a:pPr algn="l">
              <a:lnSpc>
                <a:spcPts val="4541"/>
              </a:lnSpc>
              <a:spcBef>
                <a:spcPct val="0"/>
              </a:spcBef>
            </a:pPr>
            <a:r>
              <a:t>• Zustand 4.5 — Lightweight state management for React</a:t>
            </a:r>
          </a:p>
          <a:p>
            <a:pPr algn="l">
              <a:lnSpc>
                <a:spcPts val="4541"/>
              </a:lnSpc>
              <a:spcBef>
                <a:spcPct val="0"/>
              </a:spcBef>
            </a:pPr>
            <a:r>
              <a:t/>
            </a:r>
          </a:p>
          <a:p>
            <a:pPr algn="l">
              <a:lnSpc>
                <a:spcPts val="4541"/>
              </a:lnSpc>
              <a:spcBef>
                <a:spcPct val="0"/>
              </a:spcBef>
            </a:pPr>
            <a:r>
              <a:t>• Radix UI — Accessible, unstyled component primitives</a:t>
            </a:r>
          </a:p>
          <a:p>
            <a:pPr algn="l">
              <a:lnSpc>
                <a:spcPts val="4541"/>
              </a:lnSpc>
              <a:spcBef>
                <a:spcPct val="0"/>
              </a:spcBef>
            </a:pPr>
            <a:r>
              <a:t/>
            </a:r>
          </a:p>
          <a:p>
            <a:pPr algn="l">
              <a:lnSpc>
                <a:spcPts val="4541"/>
              </a:lnSpc>
              <a:spcBef>
                <a:spcPct val="0"/>
              </a:spcBef>
            </a:pPr>
            <a:r>
              <a:t>• Framer Motion — Animation library for smooth UI transitions</a:t>
            </a:r>
          </a:p>
          <a:p>
            <a:pPr algn="l">
              <a:lnSpc>
                <a:spcPts val="4541"/>
              </a:lnSpc>
              <a:spcBef>
                <a:spcPct val="0"/>
              </a:spcBef>
            </a:pPr>
            <a:r>
              <a:t/>
            </a:r>
          </a:p>
          <a:p>
            <a:pPr algn="l">
              <a:lnSpc>
                <a:spcPts val="4541"/>
              </a:lnSpc>
              <a:spcBef>
                <a:spcPct val="0"/>
              </a:spcBef>
            </a:pPr>
            <a:r>
              <a:t>• Recharts — Charting library for admin dashboard data visualization</a:t>
            </a:r>
          </a:p>
        </p:txBody>
      </p:sp>
      <p:sp>
        <p:nvSpPr>
          <p:cNvPr id="5" name="Slide Number Placeholder 4">
            <a:extLst>
              <a:ext uri="{FF2B5EF4-FFF2-40B4-BE49-F238E27FC236}">
                <a16:creationId xmlns:a16="http://schemas.microsoft.com/office/drawing/2014/main" id="{164651BC-617B-EA31-35D1-A256E01C6660}"/>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AI and Infrastructure Tools</a:t>
            </a:r>
          </a:p>
        </p:txBody>
      </p:sp>
      <p:sp>
        <p:nvSpPr>
          <p:cNvPr id="4" name="TextBox 4"/>
          <p:cNvSpPr txBox="1"/>
          <p:nvPr/>
        </p:nvSpPr>
        <p:spPr>
          <a:xfrm>
            <a:off x="345861" y="8108319"/>
            <a:ext cx="14552075" cy="1698777"/>
          </a:xfrm>
          <a:prstGeom prst="rect">
            <a:avLst/>
          </a:prstGeom>
        </p:spPr>
        <p:txBody>
          <a:bodyPr lIns="0" tIns="0" rIns="0" bIns="0" rtlCol="0" anchor="t">
            <a:spAutoFit/>
          </a:bodyPr>
          <a:lstStyle/>
          <a:p>
            <a:pPr algn="l">
              <a:lnSpc>
                <a:spcPts val="4541"/>
              </a:lnSpc>
              <a:spcBef>
                <a:spcPct val="0"/>
              </a:spcBef>
            </a:pPr>
            <a:r>
              <a:t>• OpenAI GPT-4 — LLM for resume generation, analysis, and cover letters</a:t>
            </a:r>
          </a:p>
          <a:p>
            <a:pPr algn="l">
              <a:lnSpc>
                <a:spcPts val="4541"/>
              </a:lnSpc>
              <a:spcBef>
                <a:spcPct val="0"/>
              </a:spcBef>
            </a:pPr>
            <a:r>
              <a:t/>
            </a:r>
          </a:p>
          <a:p>
            <a:pPr algn="l">
              <a:lnSpc>
                <a:spcPts val="4541"/>
              </a:lnSpc>
              <a:spcBef>
                <a:spcPct val="0"/>
              </a:spcBef>
            </a:pPr>
            <a:r>
              <a:t>• Google Gemini — Primary AI provider (free tier) with automatic OpenAI fallback</a:t>
            </a:r>
          </a:p>
          <a:p>
            <a:pPr algn="l">
              <a:lnSpc>
                <a:spcPts val="4541"/>
              </a:lnSpc>
              <a:spcBef>
                <a:spcPct val="0"/>
              </a:spcBef>
            </a:pPr>
            <a:r>
              <a:t/>
            </a:r>
          </a:p>
          <a:p>
            <a:pPr algn="l">
              <a:lnSpc>
                <a:spcPts val="4541"/>
              </a:lnSpc>
              <a:spcBef>
                <a:spcPct val="0"/>
              </a:spcBef>
            </a:pPr>
            <a:r>
              <a:t>• Sentry — Real-time error monitoring and performance tracking</a:t>
            </a:r>
          </a:p>
          <a:p>
            <a:pPr algn="l">
              <a:lnSpc>
                <a:spcPts val="4541"/>
              </a:lnSpc>
              <a:spcBef>
                <a:spcPct val="0"/>
              </a:spcBef>
            </a:pPr>
            <a:r>
              <a:t/>
            </a:r>
          </a:p>
          <a:p>
            <a:pPr algn="l">
              <a:lnSpc>
                <a:spcPts val="4541"/>
              </a:lnSpc>
              <a:spcBef>
                <a:spcPct val="0"/>
              </a:spcBef>
            </a:pPr>
            <a:r>
              <a:t>• Docker — Containerization for consistent dev/prod environments</a:t>
            </a:r>
          </a:p>
          <a:p>
            <a:pPr algn="l">
              <a:lnSpc>
                <a:spcPts val="4541"/>
              </a:lnSpc>
              <a:spcBef>
                <a:spcPct val="0"/>
              </a:spcBef>
            </a:pPr>
            <a:r>
              <a:t/>
            </a:r>
          </a:p>
          <a:p>
            <a:pPr algn="l">
              <a:lnSpc>
                <a:spcPts val="4541"/>
              </a:lnSpc>
              <a:spcBef>
                <a:spcPct val="0"/>
              </a:spcBef>
            </a:pPr>
            <a:r>
              <a:t>• Playwright — End-to-end testing framework for cross-browser UI testing</a:t>
            </a:r>
          </a:p>
          <a:p>
            <a:pPr algn="l">
              <a:lnSpc>
                <a:spcPts val="4541"/>
              </a:lnSpc>
              <a:spcBef>
                <a:spcPct val="0"/>
              </a:spcBef>
            </a:pPr>
            <a:r>
              <a:t/>
            </a:r>
          </a:p>
          <a:p>
            <a:pPr algn="l">
              <a:lnSpc>
                <a:spcPts val="4541"/>
              </a:lnSpc>
              <a:spcBef>
                <a:spcPct val="0"/>
              </a:spcBef>
            </a:pPr>
            <a:r>
              <a:t>• GitHub Actions — CI/CD pipeline for automated testing and deployment</a:t>
            </a:r>
          </a:p>
          <a:p>
            <a:pPr algn="l">
              <a:lnSpc>
                <a:spcPts val="4541"/>
              </a:lnSpc>
              <a:spcBef>
                <a:spcPct val="0"/>
              </a:spcBef>
            </a:pPr>
            <a:r>
              <a:t/>
            </a:r>
          </a:p>
          <a:p>
            <a:pPr algn="l">
              <a:lnSpc>
                <a:spcPts val="4541"/>
              </a:lnSpc>
              <a:spcBef>
                <a:spcPct val="0"/>
              </a:spcBef>
            </a:pPr>
            <a:r>
              <a:t>• Stripe — Payment processing for subscription-based premium features</a:t>
            </a:r>
          </a:p>
          <a:p>
            <a:pPr algn="l">
              <a:lnSpc>
                <a:spcPts val="4541"/>
              </a:lnSpc>
              <a:spcBef>
                <a:spcPct val="0"/>
              </a:spcBef>
            </a:pPr>
            <a:r>
              <a:t/>
            </a:r>
          </a:p>
          <a:p>
            <a:pPr algn="l">
              <a:lnSpc>
                <a:spcPts val="4541"/>
              </a:lnSpc>
              <a:spcBef>
                <a:spcPct val="0"/>
              </a:spcBef>
            </a:pPr>
            <a:r>
              <a:t>• Render / Vercel — Cloud hosting for backend and frontend deployment</a:t>
            </a:r>
          </a:p>
        </p:txBody>
      </p:sp>
      <p:sp>
        <p:nvSpPr>
          <p:cNvPr id="5" name="Slide Number Placeholder 4">
            <a:extLst>
              <a:ext uri="{FF2B5EF4-FFF2-40B4-BE49-F238E27FC236}">
                <a16:creationId xmlns:a16="http://schemas.microsoft.com/office/drawing/2014/main" id="{07348DE0-6010-C41D-19D7-A9A537CDA5F2}"/>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Development Process</a:t>
            </a:r>
          </a:p>
        </p:txBody>
      </p:sp>
      <p:sp>
        <p:nvSpPr>
          <p:cNvPr id="4" name="Slide Number Placeholder 3">
            <a:extLst>
              <a:ext uri="{FF2B5EF4-FFF2-40B4-BE49-F238E27FC236}">
                <a16:creationId xmlns:a16="http://schemas.microsoft.com/office/drawing/2014/main" id="{EFC3D6D6-9D4F-60BD-A87E-2D1F28FB5282}"/>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Development Process Diagram</a:t>
            </a:r>
          </a:p>
        </p:txBody>
      </p:sp>
      <p:sp>
        <p:nvSpPr>
          <p:cNvPr id="4" name="TextBox 4"/>
          <p:cNvSpPr txBox="1"/>
          <p:nvPr/>
        </p:nvSpPr>
        <p:spPr>
          <a:xfrm>
            <a:off x="345861" y="8702523"/>
            <a:ext cx="14552075" cy="555777"/>
          </a:xfrm>
          <a:prstGeom prst="rect">
            <a:avLst/>
          </a:prstGeom>
        </p:spPr>
        <p:txBody>
          <a:bodyPr lIns="0" tIns="0" rIns="0" bIns="0" rtlCol="0" anchor="t">
            <a:spAutoFit/>
          </a:bodyPr>
          <a:lstStyle/>
          <a:p>
            <a:pPr algn="l">
              <a:lnSpc>
                <a:spcPts val="4541"/>
              </a:lnSpc>
              <a:spcBef>
                <a:spcPct val="0"/>
              </a:spcBef>
            </a:pPr>
            <a:r>
              <a:t>Agile methodology with 2-week sprints:</a:t>
            </a:r>
          </a:p>
          <a:p>
            <a:pPr algn="l">
              <a:lnSpc>
                <a:spcPts val="4541"/>
              </a:lnSpc>
              <a:spcBef>
                <a:spcPct val="0"/>
              </a:spcBef>
            </a:pPr>
            <a:r>
              <a:t/>
            </a:r>
          </a:p>
          <a:p>
            <a:pPr algn="l">
              <a:lnSpc>
                <a:spcPts val="4541"/>
              </a:lnSpc>
              <a:spcBef>
                <a:spcPct val="0"/>
              </a:spcBef>
            </a:pPr>
            <a:r>
              <a:t>Sprint 1-2: Project setup, database design, authentication system (JWT + OAuth2), core user/role models.</a:t>
            </a:r>
          </a:p>
          <a:p>
            <a:pPr algn="l">
              <a:lnSpc>
                <a:spcPts val="4541"/>
              </a:lnSpc>
              <a:spcBef>
                <a:spcPct val="0"/>
              </a:spcBef>
            </a:pPr>
            <a:r>
              <a:t/>
            </a:r>
          </a:p>
          <a:p>
            <a:pPr algn="l">
              <a:lnSpc>
                <a:spcPts val="4541"/>
              </a:lnSpc>
              <a:spcBef>
                <a:spcPct val="0"/>
              </a:spcBef>
            </a:pPr>
            <a:r>
              <a:t>Sprint 3-4: Resume module (manual CRUD + AI generation), AI service layer with dual provider support (Gemini + OpenAI).</a:t>
            </a:r>
          </a:p>
          <a:p>
            <a:pPr algn="l">
              <a:lnSpc>
                <a:spcPts val="4541"/>
              </a:lnSpc>
              <a:spcBef>
                <a:spcPct val="0"/>
              </a:spcBef>
            </a:pPr>
            <a:r>
              <a:t/>
            </a:r>
          </a:p>
          <a:p>
            <a:pPr algn="l">
              <a:lnSpc>
                <a:spcPts val="4541"/>
              </a:lnSpc>
              <a:spcBef>
                <a:spcPct val="0"/>
              </a:spcBef>
            </a:pPr>
            <a:r>
              <a:t>Sprint 5-6: Jobs module (CRUD, search, filtering), application pipeline (submit → review → shortlist → interview → decision).</a:t>
            </a:r>
          </a:p>
          <a:p>
            <a:pPr algn="l">
              <a:lnSpc>
                <a:spcPts val="4541"/>
              </a:lnSpc>
              <a:spcBef>
                <a:spcPct val="0"/>
              </a:spcBef>
            </a:pPr>
            <a:r>
              <a:t/>
            </a:r>
          </a:p>
          <a:p>
            <a:pPr algn="l">
              <a:lnSpc>
                <a:spcPts val="4541"/>
              </a:lnSpc>
              <a:spcBef>
                <a:spcPct val="0"/>
              </a:spcBef>
            </a:pPr>
            <a:r>
              <a:t>Sprint 7-8: Frontend development — student dashboard, company HR portal, admin panel, responsive UI with Tailwind CSS.</a:t>
            </a:r>
          </a:p>
          <a:p>
            <a:pPr algn="l">
              <a:lnSpc>
                <a:spcPts val="4541"/>
              </a:lnSpc>
              <a:spcBef>
                <a:spcPct val="0"/>
              </a:spcBef>
            </a:pPr>
            <a:r>
              <a:t/>
            </a:r>
          </a:p>
          <a:p>
            <a:pPr algn="l">
              <a:lnSpc>
                <a:spcPts val="4541"/>
              </a:lnSpc>
              <a:spcBef>
                <a:spcPct val="0"/>
              </a:spcBef>
            </a:pPr>
            <a:r>
              <a:t>Sprint 9-10: AI job matching, cover letter generation, ATS scoring, notifications, payment integration.</a:t>
            </a:r>
          </a:p>
          <a:p>
            <a:pPr algn="l">
              <a:lnSpc>
                <a:spcPts val="4541"/>
              </a:lnSpc>
              <a:spcBef>
                <a:spcPct val="0"/>
              </a:spcBef>
            </a:pPr>
            <a:r>
              <a:t/>
            </a:r>
          </a:p>
          <a:p>
            <a:pPr algn="l">
              <a:lnSpc>
                <a:spcPts val="4541"/>
              </a:lnSpc>
              <a:spcBef>
                <a:spcPct val="0"/>
              </a:spcBef>
            </a:pPr>
            <a:r>
              <a:t>Sprint 11-12: Testing (Pytest + Playwright), CI/CD (GitHub Actions), Docker, deployment (Render + Vercel), documentation.</a:t>
            </a:r>
          </a:p>
        </p:txBody>
      </p:sp>
      <p:sp>
        <p:nvSpPr>
          <p:cNvPr id="5" name="Slide Number Placeholder 4">
            <a:extLst>
              <a:ext uri="{FF2B5EF4-FFF2-40B4-BE49-F238E27FC236}">
                <a16:creationId xmlns:a16="http://schemas.microsoft.com/office/drawing/2014/main" id="{41E8A70F-2899-01AC-A3F2-5992477A3D1F}"/>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Challenges Encountered and Resolutions</a:t>
            </a:r>
          </a:p>
        </p:txBody>
      </p:sp>
      <p:sp>
        <p:nvSpPr>
          <p:cNvPr id="4" name="Slide Number Placeholder 3">
            <a:extLst>
              <a:ext uri="{FF2B5EF4-FFF2-40B4-BE49-F238E27FC236}">
                <a16:creationId xmlns:a16="http://schemas.microsoft.com/office/drawing/2014/main" id="{58142518-66EE-3ED0-D1DF-0772A84497B5}"/>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477626" y="895350"/>
            <a:ext cx="7944967" cy="1193800"/>
          </a:xfrm>
          <a:prstGeom prst="rect">
            <a:avLst/>
          </a:prstGeom>
        </p:spPr>
        <p:txBody>
          <a:bodyPr lIns="0" tIns="0" rIns="0" bIns="0" rtlCol="0" anchor="t">
            <a:spAutoFit/>
          </a:bodyPr>
          <a:lstStyle/>
          <a:p>
            <a:pPr algn="ctr">
              <a:lnSpc>
                <a:spcPts val="9799"/>
              </a:lnSpc>
            </a:pPr>
            <a:r>
              <a:t>Challenges</a:t>
            </a:r>
          </a:p>
        </p:txBody>
      </p:sp>
      <p:sp>
        <p:nvSpPr>
          <p:cNvPr id="4" name="TextBox 4"/>
          <p:cNvSpPr txBox="1"/>
          <p:nvPr/>
        </p:nvSpPr>
        <p:spPr>
          <a:xfrm>
            <a:off x="9238326" y="895350"/>
            <a:ext cx="6329470" cy="1193800"/>
          </a:xfrm>
          <a:prstGeom prst="rect">
            <a:avLst/>
          </a:prstGeom>
        </p:spPr>
        <p:txBody>
          <a:bodyPr lIns="0" tIns="0" rIns="0" bIns="0" rtlCol="0" anchor="t">
            <a:spAutoFit/>
          </a:bodyPr>
          <a:lstStyle/>
          <a:p>
            <a:pPr algn="l">
              <a:lnSpc>
                <a:spcPts val="9799"/>
              </a:lnSpc>
            </a:pPr>
            <a:r>
              <a:rPr lang="en-US" sz="6999" b="1">
                <a:solidFill>
                  <a:srgbClr val="FFFFFF"/>
                </a:solidFill>
                <a:latin typeface="Arial Nova Condensed Bold"/>
                <a:ea typeface="Arial Nova Condensed Bold"/>
                <a:cs typeface="Arial Nova Condensed Bold"/>
                <a:sym typeface="Arial Nova Condensed Bold"/>
              </a:rPr>
              <a:t>Resolutions</a:t>
            </a:r>
          </a:p>
        </p:txBody>
      </p:sp>
      <p:sp>
        <p:nvSpPr>
          <p:cNvPr id="5" name="TextBox 5"/>
          <p:cNvSpPr txBox="1"/>
          <p:nvPr/>
        </p:nvSpPr>
        <p:spPr>
          <a:xfrm>
            <a:off x="477626" y="2597206"/>
            <a:ext cx="7944967" cy="2734945"/>
          </a:xfrm>
          <a:prstGeom prst="rect">
            <a:avLst/>
          </a:prstGeom>
        </p:spPr>
        <p:txBody>
          <a:bodyPr lIns="0" tIns="0" rIns="0" bIns="0" rtlCol="0" anchor="t">
            <a:spAutoFit/>
          </a:bodyPr>
          <a:lstStyle/>
          <a:p>
            <a:pPr marL="1122679" lvl="1" indent="-561340" algn="l">
              <a:lnSpc>
                <a:spcPts val="7279"/>
              </a:lnSpc>
              <a:buFont typeface="Arial"/>
              <a:buChar char="•"/>
            </a:pPr>
            <a:r>
              <a:t>• Full-stack solo workload — Managing FastAPI backend and Next.js 14 frontend as a single developer across 10+ API modules, 30+ pages, and comprehensive testing.</a:t>
            </a:r>
          </a:p>
          <a:p>
            <a:pPr marL="1122679" lvl="1" indent="-561340" algn="l">
              <a:lnSpc>
                <a:spcPts val="7279"/>
              </a:lnSpc>
              <a:buFont typeface="Arial"/>
              <a:buChar char="•"/>
            </a:pPr>
            <a:r>
              <a:t/>
            </a:r>
          </a:p>
          <a:p>
            <a:pPr marL="1122679" lvl="1" indent="-561340" algn="l">
              <a:lnSpc>
                <a:spcPts val="7279"/>
              </a:lnSpc>
              <a:buFont typeface="Arial"/>
              <a:buChar char="•"/>
            </a:pPr>
            <a:r>
              <a:t>• AI Integration Complexity — Connecting dual AI providers (OpenAI GPT-4 and Google Gemini) for resume generation and job matching; ensuring consistent, valid JSON output from LLMs.</a:t>
            </a:r>
          </a:p>
        </p:txBody>
      </p:sp>
      <p:sp>
        <p:nvSpPr>
          <p:cNvPr id="6" name="TextBox 6"/>
          <p:cNvSpPr txBox="1"/>
          <p:nvPr/>
        </p:nvSpPr>
        <p:spPr>
          <a:xfrm>
            <a:off x="8782418" y="2597206"/>
            <a:ext cx="9075600" cy="2734945"/>
          </a:xfrm>
          <a:prstGeom prst="rect">
            <a:avLst/>
          </a:prstGeom>
        </p:spPr>
        <p:txBody>
          <a:bodyPr lIns="0" tIns="0" rIns="0" bIns="0" rtlCol="0" anchor="t">
            <a:spAutoFit/>
          </a:bodyPr>
          <a:lstStyle/>
          <a:p>
            <a:pPr marL="1122679" lvl="1" indent="-561340" algn="l">
              <a:lnSpc>
                <a:spcPts val="7279"/>
              </a:lnSpc>
              <a:buFont typeface="Arial"/>
              <a:buChar char="•"/>
            </a:pPr>
            <a:r>
              <a:t>• Adopted modular architecture with clear separation of concerns, implemented CI/CD automation via GitHub Actions, and followed phased Agile development to manage complexity.</a:t>
            </a:r>
          </a:p>
          <a:p>
            <a:pPr marL="1122679" lvl="1" indent="-561340" algn="l">
              <a:lnSpc>
                <a:spcPts val="7279"/>
              </a:lnSpc>
              <a:buFont typeface="Arial"/>
              <a:buChar char="•"/>
            </a:pPr>
            <a:r>
              <a:t/>
            </a:r>
          </a:p>
          <a:p>
            <a:pPr marL="1122679" lvl="1" indent="-561340" algn="l">
              <a:lnSpc>
                <a:spcPts val="7279"/>
              </a:lnSpc>
              <a:buFont typeface="Arial"/>
              <a:buChar char="•"/>
            </a:pPr>
            <a:r>
              <a:t>• Developed structured prompt engineering with iterative testing, implemented automatic provider failover (Gemini → OpenAI), and added JSON validation/normalization layers.</a:t>
            </a:r>
          </a:p>
        </p:txBody>
      </p:sp>
      <p:sp>
        <p:nvSpPr>
          <p:cNvPr id="7" name="AutoShape 7"/>
          <p:cNvSpPr/>
          <p:nvPr/>
        </p:nvSpPr>
        <p:spPr>
          <a:xfrm flipV="1">
            <a:off x="8035419" y="1028760"/>
            <a:ext cx="0" cy="8229540"/>
          </a:xfrm>
          <a:prstGeom prst="line">
            <a:avLst/>
          </a:prstGeom>
          <a:ln w="38100" cap="flat">
            <a:solidFill>
              <a:srgbClr val="FFFFFF"/>
            </a:solidFill>
            <a:prstDash val="solid"/>
            <a:headEnd type="none" w="sm" len="sm"/>
            <a:tailEnd type="none" w="sm" len="sm"/>
          </a:ln>
        </p:spPr>
        <p:txBody>
          <a:bodyPr/>
          <a:lstStyle/>
          <a:p>
            <a:endParaRPr lang="en-UZ"/>
          </a:p>
        </p:txBody>
      </p:sp>
      <p:sp>
        <p:nvSpPr>
          <p:cNvPr id="8" name="Slide Number Placeholder 7">
            <a:extLst>
              <a:ext uri="{FF2B5EF4-FFF2-40B4-BE49-F238E27FC236}">
                <a16:creationId xmlns:a16="http://schemas.microsoft.com/office/drawing/2014/main" id="{E1A9E05A-2FCC-D586-A394-D90D54E2A3EF}"/>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Results</a:t>
            </a:r>
          </a:p>
        </p:txBody>
      </p:sp>
      <p:sp>
        <p:nvSpPr>
          <p:cNvPr id="4" name="Slide Number Placeholder 3">
            <a:extLst>
              <a:ext uri="{FF2B5EF4-FFF2-40B4-BE49-F238E27FC236}">
                <a16:creationId xmlns:a16="http://schemas.microsoft.com/office/drawing/2014/main" id="{C7D149D8-ED8F-3657-7867-D1AFA4A686B1}"/>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Results — AI Resume Builder</a:t>
            </a:r>
          </a:p>
        </p:txBody>
      </p:sp>
      <p:sp>
        <p:nvSpPr>
          <p:cNvPr id="4" name="TextBox 4"/>
          <p:cNvSpPr txBox="1"/>
          <p:nvPr/>
        </p:nvSpPr>
        <p:spPr>
          <a:xfrm>
            <a:off x="345861" y="8379409"/>
            <a:ext cx="14552075" cy="1127277"/>
          </a:xfrm>
          <a:prstGeom prst="rect">
            <a:avLst/>
          </a:prstGeom>
        </p:spPr>
        <p:txBody>
          <a:bodyPr lIns="0" tIns="0" rIns="0" bIns="0" rtlCol="0" anchor="t">
            <a:spAutoFit/>
          </a:bodyPr>
          <a:lstStyle/>
          <a:p>
            <a:pPr algn="l">
              <a:lnSpc>
                <a:spcPts val="4541"/>
              </a:lnSpc>
              <a:spcBef>
                <a:spcPct val="0"/>
              </a:spcBef>
            </a:pPr>
            <a:r>
              <a:t>The AI Resume Builder successfully generates tailored, ATS-optimized resumes:</a:t>
            </a:r>
          </a:p>
          <a:p>
            <a:pPr algn="l">
              <a:lnSpc>
                <a:spcPts val="4541"/>
              </a:lnSpc>
              <a:spcBef>
                <a:spcPct val="0"/>
              </a:spcBef>
            </a:pPr>
            <a:r>
              <a:t/>
            </a:r>
          </a:p>
          <a:p>
            <a:pPr algn="l">
              <a:lnSpc>
                <a:spcPts val="4541"/>
              </a:lnSpc>
              <a:spcBef>
                <a:spcPct val="0"/>
              </a:spcBef>
            </a:pPr>
            <a:r>
              <a:t>• Dual AI provider support: Google Gemini (primary, free) and OpenAI GPT-4 (fallback)</a:t>
            </a:r>
          </a:p>
          <a:p>
            <a:pPr algn="l">
              <a:lnSpc>
                <a:spcPts val="4541"/>
              </a:lnSpc>
              <a:spcBef>
                <a:spcPct val="0"/>
              </a:spcBef>
            </a:pPr>
            <a:r>
              <a:t>• Multiple template styles: modern, classic, minimal, creative, professional, executive</a:t>
            </a:r>
          </a:p>
          <a:p>
            <a:pPr algn="l">
              <a:lnSpc>
                <a:spcPts val="4541"/>
              </a:lnSpc>
              <a:spcBef>
                <a:spcPct val="0"/>
              </a:spcBef>
            </a:pPr>
            <a:r>
              <a:t>• ATS score calculation (0-100) with specific improvement suggestions</a:t>
            </a:r>
          </a:p>
          <a:p>
            <a:pPr algn="l">
              <a:lnSpc>
                <a:spcPts val="4541"/>
              </a:lnSpc>
              <a:spcBef>
                <a:spcPct val="0"/>
              </a:spcBef>
            </a:pPr>
            <a:r>
              <a:t>• Multi-language support: English, Uzbek, Russian</a:t>
            </a:r>
          </a:p>
          <a:p>
            <a:pPr algn="l">
              <a:lnSpc>
                <a:spcPts val="4541"/>
              </a:lnSpc>
              <a:spcBef>
                <a:spcPct val="0"/>
              </a:spcBef>
            </a:pPr>
            <a:r>
              <a:t>• Automated content generation from user profile data and target job description</a:t>
            </a:r>
          </a:p>
          <a:p>
            <a:pPr algn="l">
              <a:lnSpc>
                <a:spcPts val="4541"/>
              </a:lnSpc>
              <a:spcBef>
                <a:spcPct val="0"/>
              </a:spcBef>
            </a:pPr>
            <a:r>
              <a:t>• PDF export with professional formatting via ReportLab</a:t>
            </a:r>
          </a:p>
          <a:p>
            <a:pPr algn="l">
              <a:lnSpc>
                <a:spcPts val="4541"/>
              </a:lnSpc>
              <a:spcBef>
                <a:spcPct val="0"/>
              </a:spcBef>
            </a:pPr>
            <a:r>
              <a:t>• Reduces manual resume creation effort by approximately 70%</a:t>
            </a:r>
          </a:p>
          <a:p>
            <a:pPr algn="l">
              <a:lnSpc>
                <a:spcPts val="4541"/>
              </a:lnSpc>
              <a:spcBef>
                <a:spcPct val="0"/>
              </a:spcBef>
            </a:pPr>
            <a:r>
              <a:t/>
            </a:r>
          </a:p>
          <a:p>
            <a:pPr algn="l">
              <a:lnSpc>
                <a:spcPts val="4541"/>
              </a:lnSpc>
              <a:spcBef>
                <a:spcPct val="0"/>
              </a:spcBef>
            </a:pPr>
            <a:r>
              <a:t>The structured prompt engineering approach ensures consistent, high-quality JSON output that is normalized and validated before storage.</a:t>
            </a:r>
          </a:p>
        </p:txBody>
      </p:sp>
      <p:sp>
        <p:nvSpPr>
          <p:cNvPr id="5" name="Slide Number Placeholder 4">
            <a:extLst>
              <a:ext uri="{FF2B5EF4-FFF2-40B4-BE49-F238E27FC236}">
                <a16:creationId xmlns:a16="http://schemas.microsoft.com/office/drawing/2014/main" id="{7084A0E4-F27D-5DBE-C6EE-D73B29D370E4}"/>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Results — AI Job Matching</a:t>
            </a:r>
          </a:p>
        </p:txBody>
      </p:sp>
      <p:sp>
        <p:nvSpPr>
          <p:cNvPr id="4" name="TextBox 4"/>
          <p:cNvSpPr txBox="1"/>
          <p:nvPr/>
        </p:nvSpPr>
        <p:spPr>
          <a:xfrm>
            <a:off x="345861" y="8379409"/>
            <a:ext cx="14552075" cy="1127277"/>
          </a:xfrm>
          <a:prstGeom prst="rect">
            <a:avLst/>
          </a:prstGeom>
        </p:spPr>
        <p:txBody>
          <a:bodyPr lIns="0" tIns="0" rIns="0" bIns="0" rtlCol="0" anchor="t">
            <a:spAutoFit/>
          </a:bodyPr>
          <a:lstStyle/>
          <a:p>
            <a:pPr algn="l">
              <a:lnSpc>
                <a:spcPts val="4541"/>
              </a:lnSpc>
              <a:spcBef>
                <a:spcPct val="0"/>
              </a:spcBef>
            </a:pPr>
            <a:r>
              <a:t>The intelligent Job Matching system analyzes candidate-job compatibility:</a:t>
            </a:r>
          </a:p>
          <a:p>
            <a:pPr algn="l">
              <a:lnSpc>
                <a:spcPts val="4541"/>
              </a:lnSpc>
              <a:spcBef>
                <a:spcPct val="0"/>
              </a:spcBef>
            </a:pPr>
            <a:r>
              <a:t/>
            </a:r>
          </a:p>
          <a:p>
            <a:pPr algn="l">
              <a:lnSpc>
                <a:spcPts val="4541"/>
              </a:lnSpc>
              <a:spcBef>
                <a:spcPct val="0"/>
              </a:spcBef>
            </a:pPr>
            <a:r>
              <a:t>• Extracts skills, experience level, and keywords from resume content</a:t>
            </a:r>
          </a:p>
          <a:p>
            <a:pPr algn="l">
              <a:lnSpc>
                <a:spcPts val="4541"/>
              </a:lnSpc>
              <a:spcBef>
                <a:spcPct val="0"/>
              </a:spcBef>
            </a:pPr>
            <a:r>
              <a:t>• Calculates match scores (0-100) against all active job listings</a:t>
            </a:r>
          </a:p>
          <a:p>
            <a:pPr algn="l">
              <a:lnSpc>
                <a:spcPts val="4541"/>
              </a:lnSpc>
              <a:spcBef>
                <a:spcPct val="0"/>
              </a:spcBef>
            </a:pPr>
            <a:r>
              <a:t>• Identifies matched skills and missing skills for each job</a:t>
            </a:r>
          </a:p>
          <a:p>
            <a:pPr algn="l">
              <a:lnSpc>
                <a:spcPts val="4541"/>
              </a:lnSpc>
              <a:spcBef>
                <a:spcPct val="0"/>
              </a:spcBef>
            </a:pPr>
            <a:r>
              <a:t>• Provides ranked results with detailed match reasons</a:t>
            </a:r>
          </a:p>
          <a:p>
            <a:pPr algn="l">
              <a:lnSpc>
                <a:spcPts val="4541"/>
              </a:lnSpc>
              <a:spcBef>
                <a:spcPct val="0"/>
              </a:spcBef>
            </a:pPr>
            <a:r>
              <a:t>• Supports filters: location preference, remote-only, minimum salary, experience level</a:t>
            </a:r>
          </a:p>
          <a:p>
            <a:pPr algn="l">
              <a:lnSpc>
                <a:spcPts val="4541"/>
              </a:lnSpc>
              <a:spcBef>
                <a:spcPct val="0"/>
              </a:spcBef>
            </a:pPr>
            <a:r>
              <a:t>• Processes matches in real-time with performance metrics</a:t>
            </a:r>
          </a:p>
          <a:p>
            <a:pPr algn="l">
              <a:lnSpc>
                <a:spcPts val="4541"/>
              </a:lnSpc>
              <a:spcBef>
                <a:spcPct val="0"/>
              </a:spcBef>
            </a:pPr>
            <a:r>
              <a:t/>
            </a:r>
          </a:p>
          <a:p>
            <a:pPr algn="l">
              <a:lnSpc>
                <a:spcPts val="4541"/>
              </a:lnSpc>
              <a:spcBef>
                <a:spcPct val="0"/>
              </a:spcBef>
            </a:pPr>
            <a:r>
              <a:t>The matching algorithm combines skill overlap analysis, experience level comparison, and keyword matching to provide comprehensive compatibility assessments.</a:t>
            </a:r>
          </a:p>
        </p:txBody>
      </p:sp>
      <p:sp>
        <p:nvSpPr>
          <p:cNvPr id="5" name="Slide Number Placeholder 4">
            <a:extLst>
              <a:ext uri="{FF2B5EF4-FFF2-40B4-BE49-F238E27FC236}">
                <a16:creationId xmlns:a16="http://schemas.microsoft.com/office/drawing/2014/main" id="{6E993F5C-1B7E-6FA3-42C9-C3FC52412D58}"/>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t>Results — Complete Multi-Role Platform</a:t>
            </a:r>
          </a:p>
        </p:txBody>
      </p:sp>
      <p:sp>
        <p:nvSpPr>
          <p:cNvPr id="4" name="TextBox 4"/>
          <p:cNvSpPr txBox="1"/>
          <p:nvPr/>
        </p:nvSpPr>
        <p:spPr>
          <a:xfrm>
            <a:off x="345861" y="8379409"/>
            <a:ext cx="14552075" cy="1127277"/>
          </a:xfrm>
          <a:prstGeom prst="rect">
            <a:avLst/>
          </a:prstGeom>
        </p:spPr>
        <p:txBody>
          <a:bodyPr lIns="0" tIns="0" rIns="0" bIns="0" rtlCol="0" anchor="t">
            <a:spAutoFit/>
          </a:bodyPr>
          <a:lstStyle/>
          <a:p>
            <a:pPr algn="l">
              <a:lnSpc>
                <a:spcPts val="4541"/>
              </a:lnSpc>
              <a:spcBef>
                <a:spcPct val="0"/>
              </a:spcBef>
            </a:pPr>
            <a:r>
              <a:t>The platform delivers a complete 3-role ecosystem:</a:t>
            </a:r>
          </a:p>
          <a:p>
            <a:pPr algn="l">
              <a:lnSpc>
                <a:spcPts val="4541"/>
              </a:lnSpc>
              <a:spcBef>
                <a:spcPct val="0"/>
              </a:spcBef>
            </a:pPr>
            <a:r>
              <a:t/>
            </a:r>
          </a:p>
          <a:p>
            <a:pPr algn="l">
              <a:lnSpc>
                <a:spcPts val="4541"/>
              </a:lnSpc>
              <a:spcBef>
                <a:spcPct val="0"/>
              </a:spcBef>
            </a:pPr>
            <a:r>
              <a:t>Student Role:</a:t>
            </a:r>
          </a:p>
          <a:p>
            <a:pPr algn="l">
              <a:lnSpc>
                <a:spcPts val="4541"/>
              </a:lnSpc>
              <a:spcBef>
                <a:spcPct val="0"/>
              </a:spcBef>
            </a:pPr>
            <a:r>
              <a:t>Register/login (email + OAuth2), build resumes (manual + AI), browse/search jobs, apply with AI cover letters, track application status, receive notifications.</a:t>
            </a:r>
          </a:p>
          <a:p>
            <a:pPr algn="l">
              <a:lnSpc>
                <a:spcPts val="4541"/>
              </a:lnSpc>
              <a:spcBef>
                <a:spcPct val="0"/>
              </a:spcBef>
            </a:pPr>
            <a:r>
              <a:t/>
            </a:r>
          </a:p>
          <a:p>
            <a:pPr algn="l">
              <a:lnSpc>
                <a:spcPts val="4541"/>
              </a:lnSpc>
              <a:spcBef>
                <a:spcPct val="0"/>
              </a:spcBef>
            </a:pPr>
            <a:r>
              <a:t>Company/HR Role:</a:t>
            </a:r>
          </a:p>
          <a:p>
            <a:pPr algn="l">
              <a:lnSpc>
                <a:spcPts val="4541"/>
              </a:lnSpc>
              <a:spcBef>
                <a:spcPct val="0"/>
              </a:spcBef>
            </a:pPr>
            <a:r>
              <a:t>Post and manage job listings, review applications, filter candidates (basic + AI-assisted), manage interview pipeline (reviewing → shortlisted → interview → accepted/rejected).</a:t>
            </a:r>
          </a:p>
          <a:p>
            <a:pPr algn="l">
              <a:lnSpc>
                <a:spcPts val="4541"/>
              </a:lnSpc>
              <a:spcBef>
                <a:spcPct val="0"/>
              </a:spcBef>
            </a:pPr>
            <a:r>
              <a:t/>
            </a:r>
          </a:p>
          <a:p>
            <a:pPr algn="l">
              <a:lnSpc>
                <a:spcPts val="4541"/>
              </a:lnSpc>
              <a:spcBef>
                <a:spcPct val="0"/>
              </a:spcBef>
            </a:pPr>
            <a:r>
              <a:t>Admin Role:</a:t>
            </a:r>
          </a:p>
          <a:p>
            <a:pPr algn="l">
              <a:lnSpc>
                <a:spcPts val="4541"/>
              </a:lnSpc>
              <a:spcBef>
                <a:spcPct val="0"/>
              </a:spcBef>
            </a:pPr>
            <a:r>
              <a:t>System dashboard with health monitoring, user management, error tracking via Sentry, system configuration and oversight.</a:t>
            </a:r>
          </a:p>
          <a:p>
            <a:pPr algn="l">
              <a:lnSpc>
                <a:spcPts val="4541"/>
              </a:lnSpc>
              <a:spcBef>
                <a:spcPct val="0"/>
              </a:spcBef>
            </a:pPr>
            <a:r>
              <a:t/>
            </a:r>
          </a:p>
          <a:p>
            <a:pPr algn="l">
              <a:lnSpc>
                <a:spcPts val="4541"/>
              </a:lnSpc>
              <a:spcBef>
                <a:spcPct val="0"/>
              </a:spcBef>
            </a:pPr>
            <a:r>
              <a:t>All roles share: JWT authentication, email verification, password reset, responsive UI.</a:t>
            </a:r>
          </a:p>
        </p:txBody>
      </p:sp>
      <p:sp>
        <p:nvSpPr>
          <p:cNvPr id="5" name="Slide Number Placeholder 4">
            <a:extLst>
              <a:ext uri="{FF2B5EF4-FFF2-40B4-BE49-F238E27FC236}">
                <a16:creationId xmlns:a16="http://schemas.microsoft.com/office/drawing/2014/main" id="{235843C6-D3FD-F447-0D46-D3FD284DA24E}"/>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The Live Demonstration</a:t>
            </a:r>
          </a:p>
        </p:txBody>
      </p:sp>
      <p:sp>
        <p:nvSpPr>
          <p:cNvPr id="4" name="Slide Number Placeholder 3">
            <a:extLst>
              <a:ext uri="{FF2B5EF4-FFF2-40B4-BE49-F238E27FC236}">
                <a16:creationId xmlns:a16="http://schemas.microsoft.com/office/drawing/2014/main" id="{FF014CCE-898E-5888-4DAC-82CDCD0BDB97}"/>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Future Scope and Impact</a:t>
            </a:r>
          </a:p>
        </p:txBody>
      </p:sp>
      <p:sp>
        <p:nvSpPr>
          <p:cNvPr id="4" name="Slide Number Placeholder 3">
            <a:extLst>
              <a:ext uri="{FF2B5EF4-FFF2-40B4-BE49-F238E27FC236}">
                <a16:creationId xmlns:a16="http://schemas.microsoft.com/office/drawing/2014/main" id="{5B5CBF2C-512D-CABF-10FE-A0003F214323}"/>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29161" y="895350"/>
            <a:ext cx="7127479" cy="1193800"/>
          </a:xfrm>
          <a:prstGeom prst="rect">
            <a:avLst/>
          </a:prstGeom>
        </p:spPr>
        <p:txBody>
          <a:bodyPr lIns="0" tIns="0" rIns="0" bIns="0" rtlCol="0" anchor="t">
            <a:spAutoFit/>
          </a:bodyPr>
          <a:lstStyle/>
          <a:p>
            <a:pPr algn="l">
              <a:lnSpc>
                <a:spcPts val="9799"/>
              </a:lnSpc>
            </a:pPr>
            <a:r>
              <a:t>Future Scope</a:t>
            </a:r>
          </a:p>
        </p:txBody>
      </p:sp>
      <p:sp>
        <p:nvSpPr>
          <p:cNvPr id="4" name="TextBox 4"/>
          <p:cNvSpPr txBox="1"/>
          <p:nvPr/>
        </p:nvSpPr>
        <p:spPr>
          <a:xfrm>
            <a:off x="8782418" y="895350"/>
            <a:ext cx="7948727" cy="1193800"/>
          </a:xfrm>
          <a:prstGeom prst="rect">
            <a:avLst/>
          </a:prstGeom>
        </p:spPr>
        <p:txBody>
          <a:bodyPr lIns="0" tIns="0" rIns="0" bIns="0" rtlCol="0" anchor="t">
            <a:spAutoFit/>
          </a:bodyPr>
          <a:lstStyle/>
          <a:p>
            <a:pPr algn="l">
              <a:lnSpc>
                <a:spcPts val="9799"/>
              </a:lnSpc>
            </a:pPr>
            <a:r>
              <a:rPr lang="en-US" sz="6999" b="1">
                <a:solidFill>
                  <a:srgbClr val="FFFFFF"/>
                </a:solidFill>
                <a:latin typeface="Arial Nova Condensed Bold"/>
                <a:ea typeface="Arial Nova Condensed Bold"/>
                <a:cs typeface="Arial Nova Condensed Bold"/>
                <a:sym typeface="Arial Nova Condensed Bold"/>
              </a:rPr>
              <a:t>Impact of the Project</a:t>
            </a:r>
          </a:p>
        </p:txBody>
      </p:sp>
      <p:sp>
        <p:nvSpPr>
          <p:cNvPr id="5" name="TextBox 5"/>
          <p:cNvSpPr txBox="1"/>
          <p:nvPr/>
        </p:nvSpPr>
        <p:spPr>
          <a:xfrm>
            <a:off x="477626" y="2597206"/>
            <a:ext cx="7944967" cy="2734945"/>
          </a:xfrm>
          <a:prstGeom prst="rect">
            <a:avLst/>
          </a:prstGeom>
        </p:spPr>
        <p:txBody>
          <a:bodyPr lIns="0" tIns="0" rIns="0" bIns="0" rtlCol="0" anchor="t">
            <a:spAutoFit/>
          </a:bodyPr>
          <a:lstStyle/>
          <a:p>
            <a:pPr marL="1122679" lvl="1" indent="-561340" algn="l">
              <a:lnSpc>
                <a:spcPts val="7279"/>
              </a:lnSpc>
              <a:buFont typeface="Arial"/>
              <a:buChar char="•"/>
            </a:pPr>
            <a:r>
              <a:t>• Mobile app (React Native) for on-the-go job searching</a:t>
            </a:r>
          </a:p>
          <a:p>
            <a:pPr marL="1122679" lvl="1" indent="-561340" algn="l">
              <a:lnSpc>
                <a:spcPts val="7279"/>
              </a:lnSpc>
              <a:buFont typeface="Arial"/>
              <a:buChar char="•"/>
            </a:pPr>
            <a:r>
              <a:t>• AI Interview Coach with real-time feedback</a:t>
            </a:r>
          </a:p>
          <a:p>
            <a:pPr marL="1122679" lvl="1" indent="-561340" algn="l">
              <a:lnSpc>
                <a:spcPts val="7279"/>
              </a:lnSpc>
              <a:buFont typeface="Arial"/>
              <a:buChar char="•"/>
            </a:pPr>
            <a:r>
              <a:t>• ML-based personalized job recommendations</a:t>
            </a:r>
          </a:p>
        </p:txBody>
      </p:sp>
      <p:sp>
        <p:nvSpPr>
          <p:cNvPr id="6" name="TextBox 6"/>
          <p:cNvSpPr txBox="1"/>
          <p:nvPr/>
        </p:nvSpPr>
        <p:spPr>
          <a:xfrm>
            <a:off x="8782418" y="2597206"/>
            <a:ext cx="9075600" cy="2734945"/>
          </a:xfrm>
          <a:prstGeom prst="rect">
            <a:avLst/>
          </a:prstGeom>
        </p:spPr>
        <p:txBody>
          <a:bodyPr lIns="0" tIns="0" rIns="0" bIns="0" rtlCol="0" anchor="t">
            <a:spAutoFit/>
          </a:bodyPr>
          <a:lstStyle/>
          <a:p>
            <a:pPr marL="1122679" lvl="1" indent="-561340" algn="l">
              <a:lnSpc>
                <a:spcPts val="7279"/>
              </a:lnSpc>
              <a:buFont typeface="Arial"/>
              <a:buChar char="•"/>
            </a:pPr>
            <a:r>
              <a:t>• Empowers students to compete in the job market with AI-optimized resumes</a:t>
            </a:r>
          </a:p>
          <a:p>
            <a:pPr marL="1122679" lvl="1" indent="-561340" algn="l">
              <a:lnSpc>
                <a:spcPts val="7279"/>
              </a:lnSpc>
              <a:buFont typeface="Arial"/>
              <a:buChar char="•"/>
            </a:pPr>
            <a:r>
              <a:t>• Reduces hiring costs for employers through AI-assisted candidate screening</a:t>
            </a:r>
          </a:p>
          <a:p>
            <a:pPr marL="1122679" lvl="1" indent="-561340" algn="l">
              <a:lnSpc>
                <a:spcPts val="7279"/>
              </a:lnSpc>
              <a:buFont typeface="Arial"/>
              <a:buChar char="•"/>
            </a:pPr>
            <a:r>
              <a:t>• Demonstrates practical AI application in career services for Central Asian market</a:t>
            </a:r>
          </a:p>
        </p:txBody>
      </p:sp>
      <p:sp>
        <p:nvSpPr>
          <p:cNvPr id="7" name="AutoShape 7"/>
          <p:cNvSpPr/>
          <p:nvPr/>
        </p:nvSpPr>
        <p:spPr>
          <a:xfrm flipV="1">
            <a:off x="8035419" y="1028760"/>
            <a:ext cx="0" cy="8229540"/>
          </a:xfrm>
          <a:prstGeom prst="line">
            <a:avLst/>
          </a:prstGeom>
          <a:ln w="38100" cap="flat">
            <a:solidFill>
              <a:srgbClr val="FFFFFF"/>
            </a:solidFill>
            <a:prstDash val="solid"/>
            <a:headEnd type="none" w="sm" len="sm"/>
            <a:tailEnd type="none" w="sm" len="sm"/>
          </a:ln>
        </p:spPr>
        <p:txBody>
          <a:bodyPr/>
          <a:lstStyle/>
          <a:p>
            <a:endParaRPr lang="en-UZ"/>
          </a:p>
        </p:txBody>
      </p:sp>
      <p:sp>
        <p:nvSpPr>
          <p:cNvPr id="8" name="TextBox 8"/>
          <p:cNvSpPr txBox="1"/>
          <p:nvPr/>
        </p:nvSpPr>
        <p:spPr>
          <a:xfrm>
            <a:off x="8782418" y="5549420"/>
            <a:ext cx="8451112" cy="4257675"/>
          </a:xfrm>
          <a:prstGeom prst="rect">
            <a:avLst/>
          </a:prstGeom>
        </p:spPr>
        <p:txBody>
          <a:bodyPr lIns="0" tIns="0" rIns="0" bIns="0" rtlCol="0" anchor="t">
            <a:spAutoFit/>
          </a:bodyPr>
          <a:lstStyle/>
          <a:p>
            <a:pPr algn="l">
              <a:lnSpc>
                <a:spcPts val="4200"/>
              </a:lnSpc>
              <a:spcBef>
                <a:spcPct val="0"/>
              </a:spcBef>
            </a:pPr>
            <a:r>
              <a:t>Future development includes a React Native mobile app, AI Interview Coach with real-time feedback, ML-based personalized recommendations, university career center partnerships, Uzbek/Russian language localization, and Click.uz/Payme payment integration for the local market. The platform can scale to serve thousands of students across Central Asian universities, significantly reducing the education-to-employment gap in the region.</a:t>
            </a:r>
          </a:p>
        </p:txBody>
      </p:sp>
      <p:sp>
        <p:nvSpPr>
          <p:cNvPr id="9" name="Slide Number Placeholder 8">
            <a:extLst>
              <a:ext uri="{FF2B5EF4-FFF2-40B4-BE49-F238E27FC236}">
                <a16:creationId xmlns:a16="http://schemas.microsoft.com/office/drawing/2014/main" id="{A5B4D41A-5934-8DD6-2C0A-C95F64F145A8}"/>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Summary and Conclusion</a:t>
            </a:r>
          </a:p>
        </p:txBody>
      </p:sp>
      <p:sp>
        <p:nvSpPr>
          <p:cNvPr id="4" name="Slide Number Placeholder 3">
            <a:extLst>
              <a:ext uri="{FF2B5EF4-FFF2-40B4-BE49-F238E27FC236}">
                <a16:creationId xmlns:a16="http://schemas.microsoft.com/office/drawing/2014/main" id="{7AB1BB64-4036-7335-571B-81976F3D1DF3}"/>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Summary and Conclusion</a:t>
            </a:r>
          </a:p>
        </p:txBody>
      </p:sp>
      <p:sp>
        <p:nvSpPr>
          <p:cNvPr id="4" name="TextBox 4"/>
          <p:cNvSpPr txBox="1"/>
          <p:nvPr/>
        </p:nvSpPr>
        <p:spPr>
          <a:xfrm>
            <a:off x="937630" y="7015937"/>
            <a:ext cx="16580718" cy="2124075"/>
          </a:xfrm>
          <a:prstGeom prst="rect">
            <a:avLst/>
          </a:prstGeom>
        </p:spPr>
        <p:txBody>
          <a:bodyPr lIns="0" tIns="0" rIns="0" bIns="0" rtlCol="0" anchor="t">
            <a:spAutoFit/>
          </a:bodyPr>
          <a:lstStyle/>
          <a:p>
            <a:pPr algn="l">
              <a:lnSpc>
                <a:spcPts val="4200"/>
              </a:lnSpc>
              <a:spcBef>
                <a:spcPct val="0"/>
              </a:spcBef>
            </a:pPr>
            <a:r>
              <a:t>SmartCareer AI has successfully achieved all five project objectives, delivering a fully functional AI-powered career platform. Key accomplishments include:</a:t>
            </a:r>
          </a:p>
          <a:p>
            <a:pPr algn="l">
              <a:lnSpc>
                <a:spcPts val="4200"/>
              </a:lnSpc>
              <a:spcBef>
                <a:spcPct val="0"/>
              </a:spcBef>
            </a:pPr>
            <a:r>
              <a:t/>
            </a:r>
          </a:p>
          <a:p>
            <a:pPr algn="l">
              <a:lnSpc>
                <a:spcPts val="4200"/>
              </a:lnSpc>
              <a:spcBef>
                <a:spcPct val="0"/>
              </a:spcBef>
            </a:pPr>
            <a:r>
              <a:t>• AI Resume Builder with dual provider support, reducing manual effort by ~70%</a:t>
            </a:r>
          </a:p>
          <a:p>
            <a:pPr algn="l">
              <a:lnSpc>
                <a:spcPts val="4200"/>
              </a:lnSpc>
              <a:spcBef>
                <a:spcPct val="0"/>
              </a:spcBef>
            </a:pPr>
            <a:r>
              <a:t>• Intelligent Job Matching with 0–100 compatibility scores and skill gap analysis</a:t>
            </a:r>
          </a:p>
          <a:p>
            <a:pPr algn="l">
              <a:lnSpc>
                <a:spcPts val="4200"/>
              </a:lnSpc>
              <a:spcBef>
                <a:spcPct val="0"/>
              </a:spcBef>
            </a:pPr>
            <a:r>
              <a:t>• Complete three-role platform with secure authentication and real-time notifications</a:t>
            </a:r>
          </a:p>
          <a:p>
            <a:pPr algn="l">
              <a:lnSpc>
                <a:spcPts val="4200"/>
              </a:lnSpc>
              <a:spcBef>
                <a:spcPct val="0"/>
              </a:spcBef>
            </a:pPr>
            <a:r>
              <a:t/>
            </a:r>
          </a:p>
          <a:p>
            <a:pPr algn="l">
              <a:lnSpc>
                <a:spcPts val="4200"/>
              </a:lnSpc>
              <a:spcBef>
                <a:spcPct val="0"/>
              </a:spcBef>
            </a:pPr>
            <a:r>
              <a:t>Top three lessons learned:</a:t>
            </a:r>
          </a:p>
          <a:p>
            <a:pPr algn="l">
              <a:lnSpc>
                <a:spcPts val="4200"/>
              </a:lnSpc>
              <a:spcBef>
                <a:spcPct val="0"/>
              </a:spcBef>
            </a:pPr>
            <a:r>
              <a:t/>
            </a:r>
          </a:p>
          <a:p>
            <a:pPr algn="l">
              <a:lnSpc>
                <a:spcPts val="4200"/>
              </a:lnSpc>
              <a:spcBef>
                <a:spcPct val="0"/>
              </a:spcBef>
            </a:pPr>
            <a:r>
              <a:t>1. Modular Architecture — Essential for managing full-stack solo development; clear separation of concerns enables incremental progress.</a:t>
            </a:r>
          </a:p>
          <a:p>
            <a:pPr algn="l">
              <a:lnSpc>
                <a:spcPts val="4200"/>
              </a:lnSpc>
              <a:spcBef>
                <a:spcPct val="0"/>
              </a:spcBef>
            </a:pPr>
            <a:r>
              <a:t/>
            </a:r>
          </a:p>
          <a:p>
            <a:pPr algn="l">
              <a:lnSpc>
                <a:spcPts val="4200"/>
              </a:lnSpc>
              <a:spcBef>
                <a:spcPct val="0"/>
              </a:spcBef>
            </a:pPr>
            <a:r>
              <a:t>2. Iterative Prompt Engineering — Consistent AI output requires structured prompts, JSON validation, and normalization layers, not just a single API call.</a:t>
            </a:r>
          </a:p>
          <a:p>
            <a:pPr algn="l">
              <a:lnSpc>
                <a:spcPts val="4200"/>
              </a:lnSpc>
              <a:spcBef>
                <a:spcPct val="0"/>
              </a:spcBef>
            </a:pPr>
            <a:r>
              <a:t/>
            </a:r>
          </a:p>
          <a:p>
            <a:pPr algn="l">
              <a:lnSpc>
                <a:spcPts val="4200"/>
              </a:lnSpc>
              <a:spcBef>
                <a:spcPct val="0"/>
              </a:spcBef>
            </a:pPr>
            <a:r>
              <a:t>3. Automated Testing &amp; CI/CD — Critical for reliability across complex systems; Pytest, Playwright, and GitHub Actions saved countless debugging hours.</a:t>
            </a:r>
          </a:p>
        </p:txBody>
      </p:sp>
      <p:sp>
        <p:nvSpPr>
          <p:cNvPr id="5" name="Slide Number Placeholder 4">
            <a:extLst>
              <a:ext uri="{FF2B5EF4-FFF2-40B4-BE49-F238E27FC236}">
                <a16:creationId xmlns:a16="http://schemas.microsoft.com/office/drawing/2014/main" id="{9DE09435-A500-DE21-3F31-FB4715A1000C}"/>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80767FC0-4EE5-748D-21BB-D10AA5DCB6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2759C32-5E83-8BF8-C7EE-D6E19C085FF3}"/>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63240C5E-8525-8FF8-DD3A-9013F60D06CB}"/>
              </a:ext>
            </a:extLst>
          </p:cNvPr>
          <p:cNvSpPr txBox="1"/>
          <p:nvPr/>
        </p:nvSpPr>
        <p:spPr>
          <a:xfrm>
            <a:off x="769652" y="365125"/>
            <a:ext cx="16748695" cy="1145185"/>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Project Contribution Breakdown</a:t>
            </a:r>
          </a:p>
        </p:txBody>
      </p:sp>
      <p:sp>
        <p:nvSpPr>
          <p:cNvPr id="4" name="TextBox 4">
            <a:extLst>
              <a:ext uri="{FF2B5EF4-FFF2-40B4-BE49-F238E27FC236}">
                <a16:creationId xmlns:a16="http://schemas.microsoft.com/office/drawing/2014/main" id="{103C7444-8553-32A8-DFDB-68EBB44AC722}"/>
              </a:ext>
            </a:extLst>
          </p:cNvPr>
          <p:cNvSpPr txBox="1"/>
          <p:nvPr/>
        </p:nvSpPr>
        <p:spPr>
          <a:xfrm>
            <a:off x="533400" y="7938692"/>
            <a:ext cx="16580718" cy="1567993"/>
          </a:xfrm>
          <a:prstGeom prst="rect">
            <a:avLst/>
          </a:prstGeom>
        </p:spPr>
        <p:txBody>
          <a:bodyPr lIns="0" tIns="0" rIns="0" bIns="0" rtlCol="0" anchor="t">
            <a:spAutoFit/>
          </a:bodyPr>
          <a:lstStyle/>
          <a:p>
            <a:pPr>
              <a:lnSpc>
                <a:spcPts val="4200"/>
              </a:lnSpc>
              <a:spcBef>
                <a:spcPct val="0"/>
              </a:spcBef>
            </a:pPr>
            <a:r>
              <a:t>This is a solo graduation project. All work was completed by a single developer.</a:t>
            </a:r>
          </a:p>
        </p:txBody>
      </p:sp>
      <p:sp>
        <p:nvSpPr>
          <p:cNvPr id="5" name="Slide Number Placeholder 4">
            <a:extLst>
              <a:ext uri="{FF2B5EF4-FFF2-40B4-BE49-F238E27FC236}">
                <a16:creationId xmlns:a16="http://schemas.microsoft.com/office/drawing/2014/main" id="{45F26185-E2BE-2F16-686C-7BCAAAB6B647}"/>
              </a:ext>
            </a:extLst>
          </p:cNvPr>
          <p:cNvSpPr>
            <a:spLocks noGrp="1"/>
          </p:cNvSpPr>
          <p:nvPr>
            <p:ph type="sldNum" sz="quarter" idx="12"/>
          </p:nvPr>
        </p:nvSpPr>
        <p:spPr/>
        <p:txBody>
          <a:bodyPr/>
          <a:lstStyle/>
          <a:p>
            <a:fld id="{B6F15528-21DE-4FAA-801E-634DDDAF4B2B}" type="slidenum">
              <a:rPr lang="en-US" smtClean="0"/>
              <a:pPr/>
              <a:t>27</a:t>
            </a:fld>
            <a:endParaRPr lang="en-US"/>
          </a:p>
        </p:txBody>
      </p:sp>
      <p:graphicFrame>
        <p:nvGraphicFramePr>
          <p:cNvPr id="6" name="Table 5">
            <a:extLst>
              <a:ext uri="{FF2B5EF4-FFF2-40B4-BE49-F238E27FC236}">
                <a16:creationId xmlns:a16="http://schemas.microsoft.com/office/drawing/2014/main" id="{77F63A32-AC0E-84EC-85A5-1543E0936D4E}"/>
              </a:ext>
            </a:extLst>
          </p:cNvPr>
          <p:cNvGraphicFramePr>
            <a:graphicFrameLocks noGrp="1"/>
          </p:cNvGraphicFramePr>
          <p:nvPr>
            <p:extLst>
              <p:ext uri="{D42A27DB-BD31-4B8C-83A1-F6EECF244321}">
                <p14:modId xmlns:p14="http://schemas.microsoft.com/office/powerpoint/2010/main" val="1389910008"/>
              </p:ext>
            </p:extLst>
          </p:nvPr>
        </p:nvGraphicFramePr>
        <p:xfrm>
          <a:off x="769652" y="2139400"/>
          <a:ext cx="16967560" cy="3004100"/>
        </p:xfrm>
        <a:graphic>
          <a:graphicData uri="http://schemas.openxmlformats.org/drawingml/2006/table">
            <a:tbl>
              <a:tblPr firstRow="1" bandRow="1">
                <a:tableStyleId>{5C22544A-7EE6-4342-B048-85BDC9FD1C3A}</a:tableStyleId>
              </a:tblPr>
              <a:tblGrid>
                <a:gridCol w="1827403">
                  <a:extLst>
                    <a:ext uri="{9D8B030D-6E8A-4147-A177-3AD203B41FA5}">
                      <a16:colId xmlns:a16="http://schemas.microsoft.com/office/drawing/2014/main" val="2657846673"/>
                    </a:ext>
                  </a:extLst>
                </a:gridCol>
                <a:gridCol w="2387791">
                  <a:extLst>
                    <a:ext uri="{9D8B030D-6E8A-4147-A177-3AD203B41FA5}">
                      <a16:colId xmlns:a16="http://schemas.microsoft.com/office/drawing/2014/main" val="3570762389"/>
                    </a:ext>
                  </a:extLst>
                </a:gridCol>
                <a:gridCol w="4463162">
                  <a:extLst>
                    <a:ext uri="{9D8B030D-6E8A-4147-A177-3AD203B41FA5}">
                      <a16:colId xmlns:a16="http://schemas.microsoft.com/office/drawing/2014/main" val="2053124338"/>
                    </a:ext>
                  </a:extLst>
                </a:gridCol>
                <a:gridCol w="4206668">
                  <a:extLst>
                    <a:ext uri="{9D8B030D-6E8A-4147-A177-3AD203B41FA5}">
                      <a16:colId xmlns:a16="http://schemas.microsoft.com/office/drawing/2014/main" val="1782963417"/>
                    </a:ext>
                  </a:extLst>
                </a:gridCol>
                <a:gridCol w="4082536">
                  <a:extLst>
                    <a:ext uri="{9D8B030D-6E8A-4147-A177-3AD203B41FA5}">
                      <a16:colId xmlns:a16="http://schemas.microsoft.com/office/drawing/2014/main" val="3262852190"/>
                    </a:ext>
                  </a:extLst>
                </a:gridCol>
              </a:tblGrid>
              <a:tr h="600820">
                <a:tc>
                  <a:txBody>
                    <a:bodyPr/>
                    <a:lstStyle/>
                    <a:p>
                      <a:pPr algn="ctr"/>
                      <a:r>
                        <a:rPr lang="en-UZ" sz="2800" dirty="0"/>
                        <a:t>Student ID</a:t>
                      </a:r>
                    </a:p>
                  </a:txBody>
                  <a:tcPr/>
                </a:tc>
                <a:tc>
                  <a:txBody>
                    <a:bodyPr/>
                    <a:lstStyle/>
                    <a:p>
                      <a:pPr algn="ctr"/>
                      <a:r>
                        <a:rPr lang="en-UZ" sz="2800" dirty="0"/>
                        <a:t>Student Name</a:t>
                      </a:r>
                    </a:p>
                  </a:txBody>
                  <a:tcPr/>
                </a:tc>
                <a:tc>
                  <a:txBody>
                    <a:bodyPr/>
                    <a:lstStyle/>
                    <a:p>
                      <a:pPr algn="ctr"/>
                      <a:r>
                        <a:rPr lang="en-UZ" sz="2800" dirty="0"/>
                        <a:t>Roles and Responsibilities</a:t>
                      </a:r>
                    </a:p>
                  </a:txBody>
                  <a:tcPr/>
                </a:tc>
                <a:tc>
                  <a:txBody>
                    <a:bodyPr/>
                    <a:lstStyle/>
                    <a:p>
                      <a:pPr algn="ctr"/>
                      <a:r>
                        <a:rPr lang="en-UZ" sz="2800" dirty="0"/>
                        <a:t>Specific Tasks Completed</a:t>
                      </a:r>
                    </a:p>
                  </a:txBody>
                  <a:tcPr/>
                </a:tc>
                <a:tc>
                  <a:txBody>
                    <a:bodyPr/>
                    <a:lstStyle/>
                    <a:p>
                      <a:pPr algn="ctr"/>
                      <a:r>
                        <a:rPr lang="en-UZ" sz="2800" dirty="0"/>
                        <a:t>Key outputs/Results</a:t>
                      </a:r>
                    </a:p>
                  </a:txBody>
                  <a:tcPr/>
                </a:tc>
                <a:extLst>
                  <a:ext uri="{0D108BD9-81ED-4DB2-BD59-A6C34878D82A}">
                    <a16:rowId xmlns:a16="http://schemas.microsoft.com/office/drawing/2014/main" val="3286823359"/>
                  </a:ext>
                </a:extLst>
              </a:tr>
              <a:tr h="600820">
                <a:tc>
                  <a:txBody>
                    <a:bodyPr/>
                    <a:lstStyle/>
                    <a:p>
                      <a:r>
                        <a:t>210004</a:t>
                      </a:r>
                    </a:p>
                  </a:txBody>
                  <a:tcPr/>
                </a:tc>
                <a:tc>
                  <a:txBody>
                    <a:bodyPr/>
                    <a:lstStyle/>
                    <a:p>
                      <a:r>
                        <a:t>Djumabaev Abdurashid</a:t>
                      </a:r>
                    </a:p>
                  </a:txBody>
                  <a:tcPr/>
                </a:tc>
                <a:tc>
                  <a:txBody>
                    <a:bodyPr/>
                    <a:lstStyle/>
                    <a:p>
                      <a:r>
                        <a:t>Full Stack Developer</a:t>
                      </a:r>
                    </a:p>
                    <a:p>
                      <a:r>
                        <a:t>(Backend, Frontend, AI, PM)</a:t>
                      </a:r>
                    </a:p>
                  </a:txBody>
                  <a:tcPr/>
                </a:tc>
                <a:tc>
                  <a:txBody>
                    <a:bodyPr/>
                    <a:lstStyle/>
                    <a:p>
                      <a:r>
                        <a:t>Backend API (FastAPI), AI service integration (Gemini/OpenAI), Frontend UI (Next.js), authentication, database design, testing, CI/CD pipeline, deployment, documentation</a:t>
                      </a:r>
                    </a:p>
                  </a:txBody>
                  <a:tcPr/>
                </a:tc>
                <a:tc>
                  <a:txBody>
                    <a:bodyPr/>
                    <a:lstStyle/>
                    <a:p>
                      <a:r>
                        <a:t>Complete AI-powered career platform with resume builder, job matching, cover letter generator, 3-role system, and production deployment</a:t>
                      </a:r>
                    </a:p>
                  </a:txBody>
                  <a:tcPr/>
                </a:tc>
                <a:extLst>
                  <a:ext uri="{0D108BD9-81ED-4DB2-BD59-A6C34878D82A}">
                    <a16:rowId xmlns:a16="http://schemas.microsoft.com/office/drawing/2014/main" val="3489152114"/>
                  </a:ext>
                </a:extLst>
              </a:tr>
              <a:tr h="600820">
                <a:tc>
                  <a:txBody>
                    <a:bodyPr/>
                    <a:lstStyle/>
                    <a:p>
                      <a:r>
                        <a:t>—</a:t>
                      </a:r>
                    </a:p>
                  </a:txBody>
                  <a:tcPr/>
                </a:tc>
                <a:tc>
                  <a:txBody>
                    <a:bodyPr/>
                    <a:lstStyle/>
                    <a:p>
                      <a:r>
                        <a:t>—</a:t>
                      </a:r>
                    </a:p>
                  </a:txBody>
                  <a:tcPr/>
                </a:tc>
                <a:tc>
                  <a:txBody>
                    <a:bodyPr/>
                    <a:lstStyle/>
                    <a:p>
                      <a:r>
                        <a:t>—</a:t>
                      </a:r>
                    </a:p>
                  </a:txBody>
                  <a:tcPr/>
                </a:tc>
                <a:tc>
                  <a:txBody>
                    <a:bodyPr/>
                    <a:lstStyle/>
                    <a:p>
                      <a:r>
                        <a:t>—</a:t>
                      </a:r>
                    </a:p>
                  </a:txBody>
                  <a:tcPr/>
                </a:tc>
                <a:tc>
                  <a:txBody>
                    <a:bodyPr/>
                    <a:lstStyle/>
                    <a:p>
                      <a:r>
                        <a:t>—</a:t>
                      </a:r>
                    </a:p>
                  </a:txBody>
                  <a:tcPr/>
                </a:tc>
                <a:extLst>
                  <a:ext uri="{0D108BD9-81ED-4DB2-BD59-A6C34878D82A}">
                    <a16:rowId xmlns:a16="http://schemas.microsoft.com/office/drawing/2014/main" val="4064849443"/>
                  </a:ext>
                </a:extLst>
              </a:tr>
              <a:tr h="600820">
                <a:tc>
                  <a:txBody>
                    <a:bodyPr/>
                    <a:lstStyle/>
                    <a:p>
                      <a:r>
                        <a:t>—</a:t>
                      </a:r>
                    </a:p>
                  </a:txBody>
                  <a:tcPr/>
                </a:tc>
                <a:tc>
                  <a:txBody>
                    <a:bodyPr/>
                    <a:lstStyle/>
                    <a:p>
                      <a:r>
                        <a:t>—</a:t>
                      </a:r>
                    </a:p>
                  </a:txBody>
                  <a:tcPr/>
                </a:tc>
                <a:tc>
                  <a:txBody>
                    <a:bodyPr/>
                    <a:lstStyle/>
                    <a:p>
                      <a:r>
                        <a:t>—</a:t>
                      </a:r>
                    </a:p>
                  </a:txBody>
                  <a:tcPr/>
                </a:tc>
                <a:tc>
                  <a:txBody>
                    <a:bodyPr/>
                    <a:lstStyle/>
                    <a:p>
                      <a:r>
                        <a:t>—</a:t>
                      </a:r>
                    </a:p>
                  </a:txBody>
                  <a:tcPr/>
                </a:tc>
                <a:tc>
                  <a:txBody>
                    <a:bodyPr/>
                    <a:lstStyle/>
                    <a:p>
                      <a:r>
                        <a:t>—</a:t>
                      </a:r>
                    </a:p>
                  </a:txBody>
                  <a:tcPr/>
                </a:tc>
                <a:extLst>
                  <a:ext uri="{0D108BD9-81ED-4DB2-BD59-A6C34878D82A}">
                    <a16:rowId xmlns:a16="http://schemas.microsoft.com/office/drawing/2014/main" val="1881124375"/>
                  </a:ext>
                </a:extLst>
              </a:tr>
              <a:tr h="600820">
                <a:tc>
                  <a:txBody>
                    <a:bodyPr/>
                    <a:lstStyle/>
                    <a:p>
                      <a:r>
                        <a:t>—</a:t>
                      </a:r>
                    </a:p>
                  </a:txBody>
                  <a:tcPr/>
                </a:tc>
                <a:tc>
                  <a:txBody>
                    <a:bodyPr/>
                    <a:lstStyle/>
                    <a:p>
                      <a:r>
                        <a:t>—</a:t>
                      </a:r>
                    </a:p>
                  </a:txBody>
                  <a:tcPr/>
                </a:tc>
                <a:tc>
                  <a:txBody>
                    <a:bodyPr/>
                    <a:lstStyle/>
                    <a:p>
                      <a:r>
                        <a:t>—</a:t>
                      </a:r>
                    </a:p>
                  </a:txBody>
                  <a:tcPr/>
                </a:tc>
                <a:tc>
                  <a:txBody>
                    <a:bodyPr/>
                    <a:lstStyle/>
                    <a:p>
                      <a:r>
                        <a:t>—</a:t>
                      </a:r>
                    </a:p>
                  </a:txBody>
                  <a:tcPr/>
                </a:tc>
                <a:tc>
                  <a:txBody>
                    <a:bodyPr/>
                    <a:lstStyle/>
                    <a:p>
                      <a:r>
                        <a:t>—</a:t>
                      </a:r>
                    </a:p>
                  </a:txBody>
                  <a:tcPr/>
                </a:tc>
                <a:extLst>
                  <a:ext uri="{0D108BD9-81ED-4DB2-BD59-A6C34878D82A}">
                    <a16:rowId xmlns:a16="http://schemas.microsoft.com/office/drawing/2014/main" val="2082548747"/>
                  </a:ext>
                </a:extLst>
              </a:tr>
            </a:tbl>
          </a:graphicData>
        </a:graphic>
      </p:graphicFrame>
    </p:spTree>
    <p:extLst>
      <p:ext uri="{BB962C8B-B14F-4D97-AF65-F5344CB8AC3E}">
        <p14:creationId xmlns:p14="http://schemas.microsoft.com/office/powerpoint/2010/main" val="207941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2411FAEC-560A-4336-4625-9246AC2439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CC5DEE-7BE6-D39B-CE16-1C6BE31F2402}"/>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362F0464-25CC-AFB4-DC40-E968047DE808}"/>
              </a:ext>
            </a:extLst>
          </p:cNvPr>
          <p:cNvSpPr txBox="1"/>
          <p:nvPr/>
        </p:nvSpPr>
        <p:spPr>
          <a:xfrm>
            <a:off x="769652" y="365125"/>
            <a:ext cx="16748695" cy="1145185"/>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References</a:t>
            </a:r>
          </a:p>
        </p:txBody>
      </p:sp>
      <p:sp>
        <p:nvSpPr>
          <p:cNvPr id="4" name="TextBox 4">
            <a:extLst>
              <a:ext uri="{FF2B5EF4-FFF2-40B4-BE49-F238E27FC236}">
                <a16:creationId xmlns:a16="http://schemas.microsoft.com/office/drawing/2014/main" id="{16A7FF9C-8C42-920A-2C4D-4EA5C4FE4DE5}"/>
              </a:ext>
            </a:extLst>
          </p:cNvPr>
          <p:cNvSpPr txBox="1"/>
          <p:nvPr/>
        </p:nvSpPr>
        <p:spPr>
          <a:xfrm>
            <a:off x="585064" y="8741165"/>
            <a:ext cx="16580718" cy="490775"/>
          </a:xfrm>
          <a:prstGeom prst="rect">
            <a:avLst/>
          </a:prstGeom>
        </p:spPr>
        <p:txBody>
          <a:bodyPr lIns="0" tIns="0" rIns="0" bIns="0" rtlCol="0" anchor="t">
            <a:spAutoFit/>
          </a:bodyPr>
          <a:lstStyle/>
          <a:p>
            <a:pPr>
              <a:lnSpc>
                <a:spcPts val="4200"/>
              </a:lnSpc>
              <a:spcBef>
                <a:spcPct val="0"/>
              </a:spcBef>
            </a:pPr>
            <a:r>
              <a:t>[1] S. Ramirez, "FastAPI Documentation," 2023. [Online]. Available: https://fastapi.tiangolo.com/</a:t>
            </a:r>
          </a:p>
          <a:p>
            <a:pPr>
              <a:lnSpc>
                <a:spcPts val="4200"/>
              </a:lnSpc>
              <a:spcBef>
                <a:spcPct val="0"/>
              </a:spcBef>
            </a:pPr>
            <a:r>
              <a:t>[2] Vercel Inc., "Next.js 14 Documentation," 2024. [Online]. Available: https://nextjs.org/docs</a:t>
            </a:r>
          </a:p>
          <a:p>
            <a:pPr>
              <a:lnSpc>
                <a:spcPts val="4200"/>
              </a:lnSpc>
              <a:spcBef>
                <a:spcPct val="0"/>
              </a:spcBef>
            </a:pPr>
            <a:r>
              <a:t>[3] OpenAI, "OpenAI API Reference," 2024. [Online]. Available: https://platform.openai.com/docs</a:t>
            </a:r>
          </a:p>
          <a:p>
            <a:pPr>
              <a:lnSpc>
                <a:spcPts val="4200"/>
              </a:lnSpc>
              <a:spcBef>
                <a:spcPct val="0"/>
              </a:spcBef>
            </a:pPr>
            <a:r>
              <a:t>[4] Google, "Gemini API Documentation," 2024. [Online]. Available: https://ai.google.dev/docs</a:t>
            </a:r>
          </a:p>
          <a:p>
            <a:pPr>
              <a:lnSpc>
                <a:spcPts val="4200"/>
              </a:lnSpc>
              <a:spcBef>
                <a:spcPct val="0"/>
              </a:spcBef>
            </a:pPr>
            <a:r>
              <a:t>[5] M. Bayer, "SQLAlchemy 2.0 Documentation," 2023. [Online]. Available: https://docs.sqlalchemy.org/</a:t>
            </a:r>
          </a:p>
          <a:p>
            <a:pPr>
              <a:lnSpc>
                <a:spcPts val="4200"/>
              </a:lnSpc>
              <a:spcBef>
                <a:spcPct val="0"/>
              </a:spcBef>
            </a:pPr>
            <a:r>
              <a:t>[6] Facebook Inc., "React 18 Documentation," 2024. [Online]. Available: https://react.dev/</a:t>
            </a:r>
          </a:p>
          <a:p>
            <a:pPr>
              <a:lnSpc>
                <a:spcPts val="4200"/>
              </a:lnSpc>
              <a:spcBef>
                <a:spcPct val="0"/>
              </a:spcBef>
            </a:pPr>
            <a:r>
              <a:t>[7] Tailwind Labs, "Tailwind CSS Documentation," 2024. [Online]. Available: https://tailwindcss.com/docs</a:t>
            </a:r>
          </a:p>
          <a:p>
            <a:pPr>
              <a:lnSpc>
                <a:spcPts val="4200"/>
              </a:lnSpc>
              <a:spcBef>
                <a:spcPct val="0"/>
              </a:spcBef>
            </a:pPr>
            <a:r>
              <a:t>[8] Microsoft, "Playwright Documentation," 2024. [Online]. Available: https://playwright.dev/</a:t>
            </a:r>
          </a:p>
          <a:p>
            <a:pPr>
              <a:lnSpc>
                <a:spcPts val="4200"/>
              </a:lnSpc>
              <a:spcBef>
                <a:spcPct val="0"/>
              </a:spcBef>
            </a:pPr>
            <a:r>
              <a:t>[9] P. Morelli et al., "Zustand State Management," 2024. [Online]. Available: https://zustand-demo.pmnd.rs/</a:t>
            </a:r>
          </a:p>
          <a:p>
            <a:pPr>
              <a:lnSpc>
                <a:spcPts val="4200"/>
              </a:lnSpc>
              <a:spcBef>
                <a:spcPct val="0"/>
              </a:spcBef>
            </a:pPr>
            <a:r>
              <a:t>[10] J. Jones et al., "AI-Driven Resume Screening: A Systematic Review," J. of AI Research, vol. 72, 2023.</a:t>
            </a:r>
          </a:p>
          <a:p>
            <a:pPr>
              <a:lnSpc>
                <a:spcPts val="4200"/>
              </a:lnSpc>
              <a:spcBef>
                <a:spcPct val="0"/>
              </a:spcBef>
            </a:pPr>
            <a:r>
              <a:t>[11] S. Chen and R. Gupta, "NLP for Automated Career Services," Proc. IEEE Int. Conf. NLP and AI, 2023.</a:t>
            </a:r>
          </a:p>
        </p:txBody>
      </p:sp>
      <p:sp>
        <p:nvSpPr>
          <p:cNvPr id="5" name="Slide Number Placeholder 4">
            <a:extLst>
              <a:ext uri="{FF2B5EF4-FFF2-40B4-BE49-F238E27FC236}">
                <a16:creationId xmlns:a16="http://schemas.microsoft.com/office/drawing/2014/main" id="{F182B880-97A3-99B2-E486-1513737D798D}"/>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174853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203F5B32-27E9-4848-51FE-4375BD22E7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B55A27-F7E3-F84D-812B-A001052BA12C}"/>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594A1BB8-7945-81C1-D297-3E81DED3FDE4}"/>
              </a:ext>
            </a:extLst>
          </p:cNvPr>
          <p:cNvSpPr txBox="1"/>
          <p:nvPr/>
        </p:nvSpPr>
        <p:spPr>
          <a:xfrm>
            <a:off x="769652" y="365125"/>
            <a:ext cx="16748695" cy="1145185"/>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Acknowledgment</a:t>
            </a:r>
          </a:p>
        </p:txBody>
      </p:sp>
      <p:sp>
        <p:nvSpPr>
          <p:cNvPr id="4" name="TextBox 4">
            <a:extLst>
              <a:ext uri="{FF2B5EF4-FFF2-40B4-BE49-F238E27FC236}">
                <a16:creationId xmlns:a16="http://schemas.microsoft.com/office/drawing/2014/main" id="{AB67A24A-957F-59BF-7B1A-2C970EAAD4F7}"/>
              </a:ext>
            </a:extLst>
          </p:cNvPr>
          <p:cNvSpPr txBox="1"/>
          <p:nvPr/>
        </p:nvSpPr>
        <p:spPr>
          <a:xfrm>
            <a:off x="533400" y="8239102"/>
            <a:ext cx="16580718" cy="1567993"/>
          </a:xfrm>
          <a:prstGeom prst="rect">
            <a:avLst/>
          </a:prstGeom>
        </p:spPr>
        <p:txBody>
          <a:bodyPr lIns="0" tIns="0" rIns="0" bIns="0" rtlCol="0" anchor="t">
            <a:spAutoFit/>
          </a:bodyPr>
          <a:lstStyle/>
          <a:p>
            <a:pPr>
              <a:lnSpc>
                <a:spcPts val="4200"/>
              </a:lnSpc>
              <a:spcBef>
                <a:spcPct val="0"/>
              </a:spcBef>
            </a:pPr>
            <a:r>
              <a:t>I would like to express my sincere gratitude to my supervisor, Mr. Farhod Mahmudxo'jayev, and to Professor Eugene Castro for their invaluable guidance, constructive feedback, and continuous support throughout the development of this project. Their expertise and encouragement played a crucial role in shaping the direction and quality of this work.</a:t>
            </a:r>
          </a:p>
          <a:p>
            <a:pPr>
              <a:lnSpc>
                <a:spcPts val="4200"/>
              </a:lnSpc>
              <a:spcBef>
                <a:spcPct val="0"/>
              </a:spcBef>
            </a:pPr>
            <a:r>
              <a:t/>
            </a:r>
          </a:p>
          <a:p>
            <a:pPr>
              <a:lnSpc>
                <a:spcPts val="4200"/>
              </a:lnSpc>
              <a:spcBef>
                <a:spcPct val="0"/>
              </a:spcBef>
            </a:pPr>
            <a:r>
              <a:t>My sincere appreciation also goes to the Engineering School and the Central Asian University community for their continuous academic inspiration, support, and the enriching environment they provide for learning and innovation. Their commitment to excellence has played a significant role in shaping my skills and passion for technology.</a:t>
            </a:r>
          </a:p>
        </p:txBody>
      </p:sp>
      <p:sp>
        <p:nvSpPr>
          <p:cNvPr id="5" name="Slide Number Placeholder 4">
            <a:extLst>
              <a:ext uri="{FF2B5EF4-FFF2-40B4-BE49-F238E27FC236}">
                <a16:creationId xmlns:a16="http://schemas.microsoft.com/office/drawing/2014/main" id="{96819942-4292-88CA-DA1A-B303EF2EFDD8}"/>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4230603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Thank you for your attention!</a:t>
            </a:r>
          </a:p>
        </p:txBody>
      </p:sp>
      <p:sp>
        <p:nvSpPr>
          <p:cNvPr id="4" name="Slide Number Placeholder 3">
            <a:extLst>
              <a:ext uri="{FF2B5EF4-FFF2-40B4-BE49-F238E27FC236}">
                <a16:creationId xmlns:a16="http://schemas.microsoft.com/office/drawing/2014/main" id="{7AB85A2D-6802-BAF9-3A8C-DB2B2C347317}"/>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Q &amp; A</a:t>
            </a:r>
          </a:p>
        </p:txBody>
      </p:sp>
      <p:sp>
        <p:nvSpPr>
          <p:cNvPr id="4" name="Slide Number Placeholder 3">
            <a:extLst>
              <a:ext uri="{FF2B5EF4-FFF2-40B4-BE49-F238E27FC236}">
                <a16:creationId xmlns:a16="http://schemas.microsoft.com/office/drawing/2014/main" id="{236DC5C3-5AFE-55FD-3782-C659A253A736}"/>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957</Words>
  <Application>Microsoft Office PowerPoint</Application>
  <PresentationFormat>Custom</PresentationFormat>
  <Paragraphs>128</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 Nova Condensed</vt:lpstr>
      <vt:lpstr>Arial</vt:lpstr>
      <vt:lpstr>Aptos</vt:lpstr>
      <vt:lpstr>Arial Nova Condensed Bold</vt:lpstr>
      <vt:lpstr>Calibri</vt:lpstr>
      <vt:lpstr>League Gothic</vt:lpstr>
      <vt:lpstr>Arial Nova Condensed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cp:lastModifiedBy>Sajid Khan</cp:lastModifiedBy>
  <cp:revision>3</cp:revision>
  <dcterms:created xsi:type="dcterms:W3CDTF">2006-08-16T00:00:00Z</dcterms:created>
  <dcterms:modified xsi:type="dcterms:W3CDTF">2026-04-24T05:28:22Z</dcterms:modified>
  <dc:identifier>DAHHjocdgr4</dc:identifier>
</cp:coreProperties>
</file>