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3"/>
  </p:notesMasterIdLst>
  <p:sldIdLst>
    <p:sldId id="256" r:id="rId2"/>
    <p:sldId id="286" r:id="rId3"/>
    <p:sldId id="257" r:id="rId4"/>
    <p:sldId id="258" r:id="rId5"/>
    <p:sldId id="282"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4" r:id="rId28"/>
    <p:sldId id="283" r:id="rId29"/>
    <p:sldId id="285" r:id="rId30"/>
    <p:sldId id="280" r:id="rId31"/>
    <p:sldId id="281" r:id="rId32"/>
  </p:sldIdLst>
  <p:sldSz cx="18288000" cy="10287000"/>
  <p:notesSz cx="6858000" cy="9144000"/>
  <p:embeddedFontLst>
    <p:embeddedFont>
      <p:font typeface="Arial Nova Condensed" panose="020B0604020202020204" charset="0"/>
      <p:regular r:id="rId34"/>
    </p:embeddedFont>
    <p:embeddedFont>
      <p:font typeface="Arial Nova Condensed Bold" panose="020B0604020202020204" charset="0"/>
      <p:regular r:id="rId35"/>
      <p:bold r:id="rId36"/>
    </p:embeddedFont>
    <p:embeddedFont>
      <p:font typeface="Calibri" panose="020F0502020204030204" pitchFamily="34" charset="0"/>
      <p:regular r:id="rId37"/>
      <p:bold r:id="rId38"/>
      <p:italic r:id="rId39"/>
      <p:boldItalic r:id="rId40"/>
    </p:embeddedFont>
    <p:embeddedFont>
      <p:font typeface="League Gothic" panose="020B0604020202020204" charset="0"/>
      <p:regular r:id="rId41"/>
    </p:embeddedFont>
    <p:embeddedFont>
      <p:font typeface="Arial Nova Condensed Italics" panose="020B0604020202020204" charset="0"/>
      <p:regular r:id="rId42"/>
      <p:italic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8D0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598" autoAdjust="0"/>
  </p:normalViewPr>
  <p:slideViewPr>
    <p:cSldViewPr>
      <p:cViewPr varScale="1">
        <p:scale>
          <a:sx n="55" d="100"/>
          <a:sy n="55" d="100"/>
        </p:scale>
        <p:origin x="65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0C1D76-665A-DB4C-B99E-0D2D0BBDCE83}" type="datetimeFigureOut">
              <a:rPr lang="en-UZ" smtClean="0"/>
              <a:t>04/24/2026</a:t>
            </a:fld>
            <a:endParaRPr lang="en-U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CA091E-6F01-A447-922D-280F39A8DC98}" type="slidenum">
              <a:rPr lang="en-UZ" smtClean="0"/>
              <a:t>‹#›</a:t>
            </a:fld>
            <a:endParaRPr lang="en-UZ"/>
          </a:p>
        </p:txBody>
      </p:sp>
    </p:spTree>
    <p:extLst>
      <p:ext uri="{BB962C8B-B14F-4D97-AF65-F5344CB8AC3E}">
        <p14:creationId xmlns:p14="http://schemas.microsoft.com/office/powerpoint/2010/main" val="3942313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8FDED3F-E98E-214D-B863-7C6D3E935D59}"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50C4AE-CA61-8549-AA93-C18A6892319D}"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011FB5-F0F3-2141-976E-C47A8944E250}"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F18A799-C98C-2B4B-B9A8-6C0A96DF3D5B}" type="datetime1">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2094797-C71D-754E-9491-0F358AAA8D10}" type="datetime1">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AC6163B-11DD-F94C-AB42-B0969F1ECB13}" type="datetime1">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561FF0C8-6761-5279-CAE7-0C8600A1A1C2}"/>
              </a:ext>
            </a:extLst>
          </p:cNvPr>
          <p:cNvSpPr/>
          <p:nvPr userDrawn="1"/>
        </p:nvSpPr>
        <p:spPr>
          <a:xfrm rot="16200000">
            <a:off x="17295452" y="192448"/>
            <a:ext cx="765896" cy="1219200"/>
          </a:xfrm>
          <a:prstGeom prst="round2Same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Z"/>
          </a:p>
        </p:txBody>
      </p:sp>
      <p:sp>
        <p:nvSpPr>
          <p:cNvPr id="2" name="Date Placeholder 1"/>
          <p:cNvSpPr>
            <a:spLocks noGrp="1"/>
          </p:cNvSpPr>
          <p:nvPr>
            <p:ph type="dt" sz="half" idx="10"/>
          </p:nvPr>
        </p:nvSpPr>
        <p:spPr/>
        <p:txBody>
          <a:bodyPr/>
          <a:lstStyle/>
          <a:p>
            <a:fld id="{81D9A395-19A2-854D-9A8D-950770568081}" type="datetime1">
              <a:rPr lang="en-US" smtClean="0"/>
              <a:t>4/24/2026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5849600" y="419100"/>
            <a:ext cx="2133600" cy="765896"/>
          </a:xfrm>
        </p:spPr>
        <p:txBody>
          <a:bodyPr/>
          <a:lstStyle>
            <a:lvl1pPr>
              <a:defRPr sz="2400" b="1">
                <a:solidFill>
                  <a:schemeClr val="bg1"/>
                </a:solidFill>
              </a:defRPr>
            </a:lvl1p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06D9E5-52EC-0C43-A37F-CBD74EA99828}" type="datetime1">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10BA4A-53D0-1946-B37B-F400589309AA}" type="datetime1">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A1702F-CDDD-FD4C-8DF0-CBF8E481BBFF}"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F192C4-F4F2-C84B-9607-9319FBFFE559}"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F43040-5418-EA4F-B9D1-100B5039C632}" type="datetime1">
              <a:rPr lang="en-US" smtClean="0"/>
              <a:t>4/24/2026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9" name="Round Same Side Corner Rectangle 8">
            <a:extLst>
              <a:ext uri="{FF2B5EF4-FFF2-40B4-BE49-F238E27FC236}">
                <a16:creationId xmlns:a16="http://schemas.microsoft.com/office/drawing/2014/main" id="{EBF2EEAF-F829-DC27-058E-959E0376C7B3}"/>
              </a:ext>
            </a:extLst>
          </p:cNvPr>
          <p:cNvSpPr/>
          <p:nvPr userDrawn="1"/>
        </p:nvSpPr>
        <p:spPr>
          <a:xfrm rot="16200000">
            <a:off x="17295452" y="192448"/>
            <a:ext cx="765896" cy="1219200"/>
          </a:xfrm>
          <a:prstGeom prst="round2Same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Z"/>
          </a:p>
        </p:txBody>
      </p:sp>
      <p:sp>
        <p:nvSpPr>
          <p:cNvPr id="6" name="Slide Number Placeholder 5"/>
          <p:cNvSpPr>
            <a:spLocks noGrp="1"/>
          </p:cNvSpPr>
          <p:nvPr>
            <p:ph type="sldNum" sz="quarter" idx="4"/>
          </p:nvPr>
        </p:nvSpPr>
        <p:spPr>
          <a:xfrm>
            <a:off x="15849600" y="417022"/>
            <a:ext cx="2133600" cy="765896"/>
          </a:xfrm>
          <a:prstGeom prst="rect">
            <a:avLst/>
          </a:prstGeom>
        </p:spPr>
        <p:txBody>
          <a:bodyPr vert="horz" lIns="91440" tIns="45720" rIns="91440" bIns="45720" rtlCol="0" anchor="ctr"/>
          <a:lstStyle>
            <a:lvl1pPr algn="r">
              <a:defRPr sz="2400" b="1">
                <a:solidFill>
                  <a:schemeClr val="bg1"/>
                </a:solidFill>
              </a:defRPr>
            </a:lvl1pPr>
          </a:lstStyle>
          <a:p>
            <a:fld id="{B6F15528-21DE-4FAA-801E-634DDDAF4B2B}" type="slidenum">
              <a:rPr lang="en-US" smtClean="0"/>
              <a:pPr/>
              <a:t>‹#›</a:t>
            </a:fld>
            <a:endParaRPr lang="en-US" sz="24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430590" y="278494"/>
            <a:ext cx="4820675" cy="907086"/>
          </a:xfrm>
          <a:custGeom>
            <a:avLst/>
            <a:gdLst/>
            <a:ahLst/>
            <a:cxnLst/>
            <a:rect l="l" t="t" r="r" b="b"/>
            <a:pathLst>
              <a:path w="4820675" h="907086">
                <a:moveTo>
                  <a:pt x="0" y="0"/>
                </a:moveTo>
                <a:lnTo>
                  <a:pt x="4820675" y="0"/>
                </a:lnTo>
                <a:lnTo>
                  <a:pt x="4820675" y="907085"/>
                </a:lnTo>
                <a:lnTo>
                  <a:pt x="0" y="907085"/>
                </a:lnTo>
                <a:lnTo>
                  <a:pt x="0" y="0"/>
                </a:lnTo>
                <a:close/>
              </a:path>
            </a:pathLst>
          </a:custGeom>
          <a:blipFill>
            <a:blip r:embed="rId2"/>
            <a:stretch>
              <a:fillRect/>
            </a:stretch>
          </a:blipFill>
        </p:spPr>
        <p:txBody>
          <a:bodyPr/>
          <a:lstStyle/>
          <a:p>
            <a:endParaRPr lang="en-UZ"/>
          </a:p>
        </p:txBody>
      </p:sp>
      <p:grpSp>
        <p:nvGrpSpPr>
          <p:cNvPr id="3" name="Group 3"/>
          <p:cNvGrpSpPr/>
          <p:nvPr/>
        </p:nvGrpSpPr>
        <p:grpSpPr>
          <a:xfrm>
            <a:off x="745723" y="2596864"/>
            <a:ext cx="5313365" cy="5313365"/>
            <a:chOff x="0" y="0"/>
            <a:chExt cx="7084487" cy="7084487"/>
          </a:xfrm>
        </p:grpSpPr>
        <p:sp>
          <p:nvSpPr>
            <p:cNvPr id="4" name="Freeform 4"/>
            <p:cNvSpPr/>
            <p:nvPr/>
          </p:nvSpPr>
          <p:spPr>
            <a:xfrm>
              <a:off x="0" y="0"/>
              <a:ext cx="7084487" cy="7084487"/>
            </a:xfrm>
            <a:custGeom>
              <a:avLst/>
              <a:gdLst/>
              <a:ahLst/>
              <a:cxnLst/>
              <a:rect l="l" t="t" r="r" b="b"/>
              <a:pathLst>
                <a:path w="7084487" h="7084487">
                  <a:moveTo>
                    <a:pt x="0" y="0"/>
                  </a:moveTo>
                  <a:lnTo>
                    <a:pt x="7084487" y="0"/>
                  </a:lnTo>
                  <a:lnTo>
                    <a:pt x="7084487" y="7084487"/>
                  </a:lnTo>
                  <a:lnTo>
                    <a:pt x="0" y="7084487"/>
                  </a:lnTo>
                  <a:lnTo>
                    <a:pt x="0" y="0"/>
                  </a:lnTo>
                  <a:close/>
                </a:path>
              </a:pathLst>
            </a:custGeom>
            <a:blipFill>
              <a:blip r:embed="rId3"/>
              <a:stretch>
                <a:fillRect/>
              </a:stretch>
            </a:blipFill>
          </p:spPr>
          <p:txBody>
            <a:bodyPr/>
            <a:lstStyle/>
            <a:p>
              <a:endParaRPr lang="en-UZ"/>
            </a:p>
          </p:txBody>
        </p:sp>
        <p:sp>
          <p:nvSpPr>
            <p:cNvPr id="5" name="TextBox 5"/>
            <p:cNvSpPr txBox="1"/>
            <p:nvPr/>
          </p:nvSpPr>
          <p:spPr>
            <a:xfrm>
              <a:off x="1101567" y="277282"/>
              <a:ext cx="5047403" cy="880533"/>
            </a:xfrm>
            <a:prstGeom prst="rect">
              <a:avLst/>
            </a:prstGeom>
          </p:spPr>
          <p:txBody>
            <a:bodyPr lIns="0" tIns="0" rIns="0" bIns="0" rtlCol="0" anchor="t">
              <a:spAutoFit/>
            </a:bodyPr>
            <a:lstStyle/>
            <a:p>
              <a:pPr algn="ctr">
                <a:lnSpc>
                  <a:spcPts val="5599"/>
                </a:lnSpc>
                <a:spcBef>
                  <a:spcPct val="0"/>
                </a:spcBef>
              </a:pPr>
              <a:r>
                <a:rPr lang="en-US" sz="3999">
                  <a:solidFill>
                    <a:srgbClr val="1800AD"/>
                  </a:solidFill>
                  <a:latin typeface="League Gothic"/>
                  <a:ea typeface="League Gothic"/>
                  <a:cs typeface="League Gothic"/>
                  <a:sym typeface="League Gothic"/>
                </a:rPr>
                <a:t>Project Logo</a:t>
              </a:r>
            </a:p>
          </p:txBody>
        </p:sp>
      </p:grpSp>
      <p:sp>
        <p:nvSpPr>
          <p:cNvPr id="6" name="TextBox 6"/>
          <p:cNvSpPr txBox="1"/>
          <p:nvPr/>
        </p:nvSpPr>
        <p:spPr>
          <a:xfrm>
            <a:off x="6452773" y="2425414"/>
            <a:ext cx="11230644" cy="1566544"/>
          </a:xfrm>
          <a:prstGeom prst="rect">
            <a:avLst/>
          </a:prstGeom>
        </p:spPr>
        <p:txBody>
          <a:bodyPr lIns="0" tIns="0" rIns="0" bIns="0" rtlCol="0" anchor="t">
            <a:spAutoFit/>
          </a:bodyPr>
          <a:lstStyle/>
          <a:p>
            <a:pPr algn="l">
              <a:lnSpc>
                <a:spcPts val="12880"/>
              </a:lnSpc>
            </a:pPr>
            <a:r>
              <a:rPr lang="en-US" sz="9200" dirty="0">
                <a:solidFill>
                  <a:srgbClr val="FFFFFF"/>
                </a:solidFill>
                <a:latin typeface="Arial Nova Condensed"/>
                <a:ea typeface="Arial Nova Condensed"/>
                <a:cs typeface="Arial Nova Condensed"/>
                <a:sym typeface="Arial Nova Condensed"/>
              </a:rPr>
              <a:t>Project Title</a:t>
            </a:r>
          </a:p>
        </p:txBody>
      </p:sp>
      <p:sp>
        <p:nvSpPr>
          <p:cNvPr id="7" name="TextBox 7"/>
          <p:cNvSpPr txBox="1"/>
          <p:nvPr/>
        </p:nvSpPr>
        <p:spPr>
          <a:xfrm>
            <a:off x="6452773" y="3915758"/>
            <a:ext cx="11230644" cy="606425"/>
          </a:xfrm>
          <a:prstGeom prst="rect">
            <a:avLst/>
          </a:prstGeom>
        </p:spPr>
        <p:txBody>
          <a:bodyPr lIns="0" tIns="0" rIns="0" bIns="0" rtlCol="0" anchor="t">
            <a:spAutoFit/>
          </a:bodyPr>
          <a:lstStyle/>
          <a:p>
            <a:pPr algn="l">
              <a:lnSpc>
                <a:spcPts val="4900"/>
              </a:lnSpc>
            </a:pPr>
            <a:r>
              <a:rPr lang="en-US" sz="3500" b="1">
                <a:solidFill>
                  <a:srgbClr val="FFFFFF"/>
                </a:solidFill>
                <a:latin typeface="Arial Nova Condensed Bold"/>
                <a:ea typeface="Arial Nova Condensed Bold"/>
                <a:cs typeface="Arial Nova Condensed Bold"/>
                <a:sym typeface="Arial Nova Condensed Bold"/>
              </a:rPr>
              <a:t>Graduation Project and Internship</a:t>
            </a:r>
          </a:p>
        </p:txBody>
      </p:sp>
      <p:grpSp>
        <p:nvGrpSpPr>
          <p:cNvPr id="8" name="Group 8"/>
          <p:cNvGrpSpPr/>
          <p:nvPr/>
        </p:nvGrpSpPr>
        <p:grpSpPr>
          <a:xfrm>
            <a:off x="6452773" y="4632230"/>
            <a:ext cx="11638199" cy="3072765"/>
            <a:chOff x="0" y="0"/>
            <a:chExt cx="15517599" cy="4097020"/>
          </a:xfrm>
        </p:grpSpPr>
        <p:sp>
          <p:nvSpPr>
            <p:cNvPr id="9" name="TextBox 9"/>
            <p:cNvSpPr txBox="1"/>
            <p:nvPr/>
          </p:nvSpPr>
          <p:spPr>
            <a:xfrm>
              <a:off x="0" y="-95250"/>
              <a:ext cx="6438252" cy="1107017"/>
            </a:xfrm>
            <a:prstGeom prst="rect">
              <a:avLst/>
            </a:prstGeom>
          </p:spPr>
          <p:txBody>
            <a:bodyPr lIns="0" tIns="0" rIns="0" bIns="0" rtlCol="0" anchor="t">
              <a:spAutoFit/>
            </a:bodyPr>
            <a:lstStyle/>
            <a:p>
              <a:pPr algn="l">
                <a:lnSpc>
                  <a:spcPts val="7000"/>
                </a:lnSpc>
              </a:pPr>
              <a:r>
                <a:rPr lang="en-US" sz="5000" b="1">
                  <a:solidFill>
                    <a:srgbClr val="FFFFFF"/>
                  </a:solidFill>
                  <a:latin typeface="Arial Nova Condensed Bold"/>
                  <a:ea typeface="Arial Nova Condensed Bold"/>
                  <a:cs typeface="Arial Nova Condensed Bold"/>
                  <a:sym typeface="Arial Nova Condensed Bold"/>
                </a:rPr>
                <a:t>Team Members:</a:t>
              </a:r>
            </a:p>
          </p:txBody>
        </p:sp>
        <p:sp>
          <p:nvSpPr>
            <p:cNvPr id="10" name="TextBox 10"/>
            <p:cNvSpPr txBox="1"/>
            <p:nvPr/>
          </p:nvSpPr>
          <p:spPr>
            <a:xfrm>
              <a:off x="0" y="945092"/>
              <a:ext cx="15517599" cy="3151928"/>
            </a:xfrm>
            <a:prstGeom prst="rect">
              <a:avLst/>
            </a:prstGeom>
          </p:spPr>
          <p:txBody>
            <a:bodyPr lIns="0" tIns="0" rIns="0" bIns="0" rtlCol="0" anchor="t">
              <a:spAutoFit/>
            </a:bodyPr>
            <a:lstStyle/>
            <a:p>
              <a:pPr marL="734059" lvl="1" indent="-367030" algn="l">
                <a:lnSpc>
                  <a:spcPts val="4759"/>
                </a:lnSpc>
                <a:buAutoNum type="arabicPeriod"/>
              </a:pPr>
              <a:r>
                <a:rPr lang="en-US" sz="3399" b="1">
                  <a:solidFill>
                    <a:srgbClr val="FFFFFF"/>
                  </a:solidFill>
                  <a:latin typeface="Arial Nova Condensed Bold"/>
                  <a:ea typeface="Arial Nova Condensed Bold"/>
                  <a:cs typeface="Arial Nova Condensed Bold"/>
                  <a:sym typeface="Arial Nova Condensed Bold"/>
                </a:rPr>
                <a:t> Student ID - Student Name</a:t>
              </a:r>
            </a:p>
            <a:p>
              <a:pPr marL="734059" lvl="1" indent="-367030" algn="l">
                <a:lnSpc>
                  <a:spcPts val="4759"/>
                </a:lnSpc>
                <a:buAutoNum type="arabicPeriod"/>
              </a:pPr>
              <a:r>
                <a:rPr lang="en-US" sz="3399" b="1">
                  <a:solidFill>
                    <a:srgbClr val="FFFFFF"/>
                  </a:solidFill>
                  <a:latin typeface="Arial Nova Condensed Bold"/>
                  <a:ea typeface="Arial Nova Condensed Bold"/>
                  <a:cs typeface="Arial Nova Condensed Bold"/>
                  <a:sym typeface="Arial Nova Condensed Bold"/>
                </a:rPr>
                <a:t> Student ID - Student Name</a:t>
              </a:r>
            </a:p>
            <a:p>
              <a:pPr marL="734059" lvl="1" indent="-367030" algn="l">
                <a:lnSpc>
                  <a:spcPts val="4759"/>
                </a:lnSpc>
                <a:buAutoNum type="arabicPeriod"/>
              </a:pPr>
              <a:r>
                <a:rPr lang="en-US" sz="3399" b="1">
                  <a:solidFill>
                    <a:srgbClr val="FFFFFF"/>
                  </a:solidFill>
                  <a:latin typeface="Arial Nova Condensed Bold"/>
                  <a:ea typeface="Arial Nova Condensed Bold"/>
                  <a:cs typeface="Arial Nova Condensed Bold"/>
                  <a:sym typeface="Arial Nova Condensed Bold"/>
                </a:rPr>
                <a:t> Student ID - Student Name</a:t>
              </a:r>
            </a:p>
            <a:p>
              <a:pPr marL="734059" lvl="1" indent="-367030" algn="l">
                <a:lnSpc>
                  <a:spcPts val="4759"/>
                </a:lnSpc>
                <a:buAutoNum type="arabicPeriod"/>
              </a:pPr>
              <a:r>
                <a:rPr lang="en-US" sz="3399" b="1">
                  <a:solidFill>
                    <a:srgbClr val="FFFFFF"/>
                  </a:solidFill>
                  <a:latin typeface="Arial Nova Condensed Bold"/>
                  <a:ea typeface="Arial Nova Condensed Bold"/>
                  <a:cs typeface="Arial Nova Condensed Bold"/>
                  <a:sym typeface="Arial Nova Condensed Bold"/>
                </a:rPr>
                <a:t> Student ID - Student Name</a:t>
              </a:r>
            </a:p>
          </p:txBody>
        </p:sp>
      </p:grpSp>
      <p:sp>
        <p:nvSpPr>
          <p:cNvPr id="11" name="TextBox 11"/>
          <p:cNvSpPr txBox="1"/>
          <p:nvPr/>
        </p:nvSpPr>
        <p:spPr>
          <a:xfrm>
            <a:off x="320797" y="8767127"/>
            <a:ext cx="17770176" cy="887095"/>
          </a:xfrm>
          <a:prstGeom prst="rect">
            <a:avLst/>
          </a:prstGeom>
        </p:spPr>
        <p:txBody>
          <a:bodyPr lIns="0" tIns="0" rIns="0" bIns="0" rtlCol="0" anchor="t">
            <a:spAutoFit/>
          </a:bodyPr>
          <a:lstStyle/>
          <a:p>
            <a:pPr algn="ctr">
              <a:lnSpc>
                <a:spcPts val="7279"/>
              </a:lnSpc>
            </a:pPr>
            <a:r>
              <a:rPr lang="en-US" sz="5199" i="1">
                <a:solidFill>
                  <a:srgbClr val="FFFFFF"/>
                </a:solidFill>
                <a:latin typeface="Arial Nova Condensed Italics"/>
                <a:ea typeface="Arial Nova Condensed Italics"/>
                <a:cs typeface="Arial Nova Condensed Italics"/>
                <a:sym typeface="Arial Nova Condensed Italics"/>
              </a:rPr>
              <a:t>[Date of Presentation]</a:t>
            </a:r>
          </a:p>
        </p:txBody>
      </p:sp>
      <p:sp>
        <p:nvSpPr>
          <p:cNvPr id="12" name="Slide Number Placeholder 11">
            <a:extLst>
              <a:ext uri="{FF2B5EF4-FFF2-40B4-BE49-F238E27FC236}">
                <a16:creationId xmlns:a16="http://schemas.microsoft.com/office/drawing/2014/main" id="{07260B3D-3462-45A9-2A4C-FC64B5A27961}"/>
              </a:ext>
            </a:extLst>
          </p:cNvPr>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a:extLst>
            <a:ext uri="{FF2B5EF4-FFF2-40B4-BE49-F238E27FC236}">
              <a16:creationId xmlns:a16="http://schemas.microsoft.com/office/drawing/2014/main" id="{F72B5A76-7375-A948-B7CB-FFAA649AE850}"/>
            </a:ext>
          </a:extLst>
        </p:cNvPr>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13BE6FE5-3110-149C-0D3C-AD6794C3029F}"/>
              </a:ext>
            </a:extLst>
          </p:cNvPr>
          <p:cNvSpPr>
            <a:spLocks noGrp="1"/>
          </p:cNvSpPr>
          <p:nvPr>
            <p:ph idx="1"/>
          </p:nvPr>
        </p:nvSpPr>
        <p:spPr>
          <a:xfrm>
            <a:off x="675376" y="1638300"/>
            <a:ext cx="8163824" cy="7678741"/>
          </a:xfrm>
        </p:spPr>
        <p:txBody>
          <a:bodyPr>
            <a:normAutofit/>
          </a:bodyPr>
          <a:lstStyle/>
          <a:p>
            <a:r>
              <a:rPr lang="en-US" sz="4400" b="1" dirty="0">
                <a:solidFill>
                  <a:srgbClr val="FFFFFF"/>
                </a:solidFill>
                <a:latin typeface="Arial Nova Condensed Bold"/>
                <a:ea typeface="Arial Nova Condensed Bold"/>
                <a:cs typeface="Arial Nova Condensed Bold"/>
                <a:sym typeface="Arial Nova Condensed Bold"/>
              </a:rPr>
              <a:t>Problem Statement and Motivation</a:t>
            </a:r>
          </a:p>
          <a:p>
            <a:r>
              <a:rPr lang="en-US" sz="4400" b="1" dirty="0">
                <a:solidFill>
                  <a:srgbClr val="FFFFFF"/>
                </a:solidFill>
                <a:latin typeface="Arial Nova Condensed Bold"/>
                <a:ea typeface="Arial Nova Condensed Bold"/>
                <a:cs typeface="Arial Nova Condensed Bold"/>
                <a:sym typeface="Arial Nova Condensed Bold"/>
              </a:rPr>
              <a:t>Project Objectives</a:t>
            </a:r>
          </a:p>
          <a:p>
            <a:r>
              <a:rPr lang="en-US" sz="4400" b="1" dirty="0">
                <a:solidFill>
                  <a:srgbClr val="FFFFFF"/>
                </a:solidFill>
                <a:latin typeface="Arial Nova Condensed Bold"/>
                <a:ea typeface="Arial Nova Condensed Bold"/>
                <a:cs typeface="Arial Nova Condensed Bold"/>
                <a:sym typeface="Arial Nova Condensed Bold"/>
              </a:rPr>
              <a:t>Project Timeline</a:t>
            </a:r>
          </a:p>
          <a:p>
            <a:r>
              <a:rPr lang="en-US" sz="4400" b="1" dirty="0">
                <a:solidFill>
                  <a:srgbClr val="FFFFFF"/>
                </a:solidFill>
                <a:latin typeface="Arial Nova Condensed Bold"/>
                <a:ea typeface="Arial Nova Condensed Bold"/>
                <a:cs typeface="Arial Nova Condensed Bold"/>
                <a:sym typeface="Arial Nova Condensed Bold"/>
              </a:rPr>
              <a:t>Solutions and Systems Architecture</a:t>
            </a:r>
          </a:p>
          <a:p>
            <a:r>
              <a:rPr lang="en-US" sz="4400" b="1" dirty="0">
                <a:solidFill>
                  <a:srgbClr val="FFFFFF"/>
                </a:solidFill>
                <a:latin typeface="Arial Nova Condensed Bold"/>
                <a:ea typeface="Arial Nova Condensed Bold"/>
                <a:cs typeface="Arial Nova Condensed Bold"/>
                <a:sym typeface="Arial Nova Condensed Bold"/>
              </a:rPr>
              <a:t>Tools and Technologies Used</a:t>
            </a:r>
          </a:p>
          <a:p>
            <a:r>
              <a:rPr lang="en-US" sz="4400" b="1" dirty="0">
                <a:solidFill>
                  <a:srgbClr val="FFFFFF"/>
                </a:solidFill>
                <a:latin typeface="Arial Nova Condensed Bold"/>
                <a:ea typeface="Arial Nova Condensed Bold"/>
                <a:cs typeface="Arial Nova Condensed Bold"/>
                <a:sym typeface="Arial Nova Condensed Bold"/>
              </a:rPr>
              <a:t>Development Process</a:t>
            </a:r>
          </a:p>
          <a:p>
            <a:r>
              <a:rPr lang="en-US" sz="4400" b="1" dirty="0">
                <a:solidFill>
                  <a:srgbClr val="FFFFFF"/>
                </a:solidFill>
                <a:latin typeface="Arial Nova Condensed Bold"/>
                <a:ea typeface="Arial Nova Condensed Bold"/>
                <a:cs typeface="Arial Nova Condensed Bold"/>
                <a:sym typeface="Arial Nova Condensed Bold"/>
              </a:rPr>
              <a:t>Challenges Encountered and Resolutions</a:t>
            </a:r>
          </a:p>
        </p:txBody>
      </p:sp>
      <p:sp>
        <p:nvSpPr>
          <p:cNvPr id="12" name="Slide Number Placeholder 11">
            <a:extLst>
              <a:ext uri="{FF2B5EF4-FFF2-40B4-BE49-F238E27FC236}">
                <a16:creationId xmlns:a16="http://schemas.microsoft.com/office/drawing/2014/main" id="{0C09AFCE-9E84-59FA-BE3F-A8123005E7C6}"/>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15" name="Freeform 2">
            <a:extLst>
              <a:ext uri="{FF2B5EF4-FFF2-40B4-BE49-F238E27FC236}">
                <a16:creationId xmlns:a16="http://schemas.microsoft.com/office/drawing/2014/main" id="{22A4A616-86FD-87C9-36DF-EFFA279DB10F}"/>
              </a:ext>
            </a:extLst>
          </p:cNvPr>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18" name="TextBox 3">
            <a:extLst>
              <a:ext uri="{FF2B5EF4-FFF2-40B4-BE49-F238E27FC236}">
                <a16:creationId xmlns:a16="http://schemas.microsoft.com/office/drawing/2014/main" id="{737ECB10-8F56-ADEF-2993-5729DE752308}"/>
              </a:ext>
            </a:extLst>
          </p:cNvPr>
          <p:cNvSpPr txBox="1"/>
          <p:nvPr/>
        </p:nvSpPr>
        <p:spPr>
          <a:xfrm>
            <a:off x="533400" y="227377"/>
            <a:ext cx="16748695" cy="1145185"/>
          </a:xfrm>
          <a:prstGeom prst="rect">
            <a:avLst/>
          </a:prstGeom>
        </p:spPr>
        <p:txBody>
          <a:bodyPr lIns="0" tIns="0" rIns="0" bIns="0" rtlCol="0" anchor="t">
            <a:spAutoFit/>
          </a:bodyPr>
          <a:lstStyle/>
          <a:p>
            <a:pPr algn="l">
              <a:lnSpc>
                <a:spcPts val="9799"/>
              </a:lnSpc>
            </a:pPr>
            <a:r>
              <a:rPr lang="en-US" sz="6999" b="1" dirty="0">
                <a:solidFill>
                  <a:srgbClr val="FFFFFF"/>
                </a:solidFill>
                <a:latin typeface="Arial Nova Condensed Bold"/>
                <a:ea typeface="Arial Nova Condensed Bold"/>
                <a:cs typeface="Arial Nova Condensed Bold"/>
                <a:sym typeface="Arial Nova Condensed Bold"/>
              </a:rPr>
              <a:t>Presentation Outline</a:t>
            </a:r>
          </a:p>
        </p:txBody>
      </p:sp>
      <p:sp>
        <p:nvSpPr>
          <p:cNvPr id="19" name="Content Placeholder 13">
            <a:extLst>
              <a:ext uri="{FF2B5EF4-FFF2-40B4-BE49-F238E27FC236}">
                <a16:creationId xmlns:a16="http://schemas.microsoft.com/office/drawing/2014/main" id="{30873529-ED4E-C333-003B-5AC497885E79}"/>
              </a:ext>
            </a:extLst>
          </p:cNvPr>
          <p:cNvSpPr txBox="1">
            <a:spLocks/>
          </p:cNvSpPr>
          <p:nvPr/>
        </p:nvSpPr>
        <p:spPr>
          <a:xfrm>
            <a:off x="9118271" y="1562207"/>
            <a:ext cx="8163824" cy="767874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4400" b="1" dirty="0">
                <a:solidFill>
                  <a:srgbClr val="FFFFFF"/>
                </a:solidFill>
                <a:latin typeface="Arial Nova Condensed Bold"/>
                <a:ea typeface="Arial Nova Condensed Bold"/>
                <a:cs typeface="Arial Nova Condensed Bold"/>
                <a:sym typeface="Arial Nova Condensed Bold"/>
              </a:rPr>
              <a:t>Results</a:t>
            </a:r>
          </a:p>
          <a:p>
            <a:r>
              <a:rPr lang="en-US" sz="4400" b="1" dirty="0">
                <a:solidFill>
                  <a:srgbClr val="FFFFFF"/>
                </a:solidFill>
                <a:latin typeface="Arial Nova Condensed Bold"/>
                <a:ea typeface="Arial Nova Condensed Bold"/>
                <a:cs typeface="Arial Nova Condensed Bold"/>
                <a:sym typeface="Arial Nova Condensed Bold"/>
              </a:rPr>
              <a:t>The Live Demonstration</a:t>
            </a:r>
          </a:p>
          <a:p>
            <a:r>
              <a:rPr lang="en-US" sz="4400" b="1" dirty="0">
                <a:solidFill>
                  <a:srgbClr val="FFFFFF"/>
                </a:solidFill>
                <a:latin typeface="Arial Nova Condensed Bold"/>
                <a:ea typeface="Arial Nova Condensed Bold"/>
                <a:cs typeface="Arial Nova Condensed Bold"/>
                <a:sym typeface="Arial Nova Condensed Bold"/>
              </a:rPr>
              <a:t>Future Scope and Impact</a:t>
            </a:r>
          </a:p>
          <a:p>
            <a:r>
              <a:rPr lang="en-US" sz="4400" b="1" dirty="0">
                <a:solidFill>
                  <a:srgbClr val="FFFFFF"/>
                </a:solidFill>
                <a:latin typeface="Arial Nova Condensed Bold"/>
                <a:ea typeface="Arial Nova Condensed Bold"/>
                <a:cs typeface="Arial Nova Condensed Bold"/>
                <a:sym typeface="Arial Nova Condensed Bold"/>
              </a:rPr>
              <a:t>Summary and Conclusion</a:t>
            </a:r>
          </a:p>
          <a:p>
            <a:r>
              <a:rPr lang="en-US" sz="4400" b="1" dirty="0">
                <a:solidFill>
                  <a:srgbClr val="FFFFFF"/>
                </a:solidFill>
                <a:latin typeface="Arial Nova Condensed Bold"/>
                <a:ea typeface="Arial Nova Condensed Bold"/>
                <a:cs typeface="Arial Nova Condensed Bold"/>
                <a:sym typeface="Arial Nova Condensed Bold"/>
              </a:rPr>
              <a:t>Project Contribution Breakdowns</a:t>
            </a:r>
          </a:p>
          <a:p>
            <a:r>
              <a:rPr lang="en-US" sz="4400" b="1" dirty="0">
                <a:solidFill>
                  <a:srgbClr val="FFFFFF"/>
                </a:solidFill>
                <a:latin typeface="Arial Nova Condensed Bold"/>
                <a:ea typeface="Arial Nova Condensed Bold"/>
                <a:cs typeface="Arial Nova Condensed Bold"/>
                <a:sym typeface="Arial Nova Condensed Bold"/>
              </a:rPr>
              <a:t>References</a:t>
            </a:r>
          </a:p>
          <a:p>
            <a:r>
              <a:rPr lang="en-US" sz="4400" b="1" dirty="0">
                <a:solidFill>
                  <a:srgbClr val="FFFFFF"/>
                </a:solidFill>
                <a:latin typeface="Arial Nova Condensed Bold"/>
                <a:ea typeface="Arial Nova Condensed Bold"/>
                <a:cs typeface="Arial Nova Condensed Bold"/>
                <a:sym typeface="Arial Nova Condensed Bold"/>
              </a:rPr>
              <a:t>Acknowledgment</a:t>
            </a:r>
          </a:p>
        </p:txBody>
      </p:sp>
    </p:spTree>
    <p:extLst>
      <p:ext uri="{BB962C8B-B14F-4D97-AF65-F5344CB8AC3E}">
        <p14:creationId xmlns:p14="http://schemas.microsoft.com/office/powerpoint/2010/main" val="1240153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92044" y="648102"/>
            <a:ext cx="16748695" cy="1193800"/>
          </a:xfrm>
          <a:prstGeom prst="rect">
            <a:avLst/>
          </a:prstGeom>
        </p:spPr>
        <p:txBody>
          <a:bodyPr lIns="0" tIns="0" rIns="0" bIns="0" rtlCol="0" anchor="t">
            <a:spAutoFit/>
          </a:bodyPr>
          <a:lstStyle/>
          <a:p>
            <a:pPr algn="l">
              <a:lnSpc>
                <a:spcPts val="9799"/>
              </a:lnSpc>
            </a:pPr>
            <a:r>
              <a:rPr lang="en-US" sz="6999" b="1" dirty="0">
                <a:solidFill>
                  <a:srgbClr val="FFFFFF"/>
                </a:solidFill>
                <a:latin typeface="Arial Nova Condensed Bold"/>
                <a:ea typeface="Arial Nova Condensed Bold"/>
                <a:cs typeface="Arial Nova Condensed Bold"/>
                <a:sym typeface="Arial Nova Condensed Bold"/>
              </a:rPr>
              <a:t>Problem Statement and Motivation</a:t>
            </a:r>
          </a:p>
        </p:txBody>
      </p:sp>
      <p:sp>
        <p:nvSpPr>
          <p:cNvPr id="4" name="TextBox 4"/>
          <p:cNvSpPr txBox="1"/>
          <p:nvPr/>
        </p:nvSpPr>
        <p:spPr>
          <a:xfrm>
            <a:off x="571951" y="2408555"/>
            <a:ext cx="17344815" cy="2734945"/>
          </a:xfrm>
          <a:prstGeom prst="rect">
            <a:avLst/>
          </a:prstGeom>
        </p:spPr>
        <p:txBody>
          <a:bodyPr lIns="0" tIns="0" rIns="0" bIns="0" rtlCol="0" anchor="t">
            <a:spAutoFit/>
          </a:bodyPr>
          <a:lstStyle/>
          <a:p>
            <a:pPr marL="1122679" lvl="1" indent="-561340" algn="l">
              <a:lnSpc>
                <a:spcPts val="7279"/>
              </a:lnSpc>
              <a:buFont typeface="Arial"/>
              <a:buChar char="•"/>
            </a:pPr>
            <a:r>
              <a:rPr lang="en-US" sz="5199" dirty="0">
                <a:solidFill>
                  <a:srgbClr val="FFFFFF"/>
                </a:solidFill>
                <a:latin typeface="Arial Nova Condensed"/>
                <a:ea typeface="Arial Nova Condensed"/>
                <a:cs typeface="Arial Nova Condensed"/>
                <a:sym typeface="Arial Nova Condensed"/>
              </a:rPr>
              <a:t>Item</a:t>
            </a:r>
          </a:p>
          <a:p>
            <a:pPr marL="1122679" lvl="1" indent="-561340" algn="l">
              <a:lnSpc>
                <a:spcPts val="7279"/>
              </a:lnSpc>
              <a:buFont typeface="Arial"/>
              <a:buChar char="•"/>
            </a:pPr>
            <a:r>
              <a:rPr lang="en-US" sz="5199" dirty="0">
                <a:solidFill>
                  <a:srgbClr val="FFFFFF"/>
                </a:solidFill>
                <a:latin typeface="Arial Nova Condensed"/>
                <a:ea typeface="Arial Nova Condensed"/>
                <a:cs typeface="Arial Nova Condensed"/>
                <a:sym typeface="Arial Nova Condensed"/>
              </a:rPr>
              <a:t>Item</a:t>
            </a:r>
          </a:p>
          <a:p>
            <a:pPr marL="1122679" lvl="1" indent="-561340" algn="l">
              <a:lnSpc>
                <a:spcPts val="7279"/>
              </a:lnSpc>
              <a:buFont typeface="Arial"/>
              <a:buChar char="•"/>
            </a:pPr>
            <a:r>
              <a:rPr lang="en-US" sz="5199" dirty="0">
                <a:solidFill>
                  <a:srgbClr val="FFFFFF"/>
                </a:solidFill>
                <a:latin typeface="Arial Nova Condensed"/>
                <a:ea typeface="Arial Nova Condensed"/>
                <a:cs typeface="Arial Nova Condensed"/>
                <a:sym typeface="Arial Nova Condensed"/>
              </a:rPr>
              <a:t>Item</a:t>
            </a:r>
          </a:p>
        </p:txBody>
      </p:sp>
      <p:sp>
        <p:nvSpPr>
          <p:cNvPr id="5" name="TextBox 5"/>
          <p:cNvSpPr txBox="1"/>
          <p:nvPr/>
        </p:nvSpPr>
        <p:spPr>
          <a:xfrm>
            <a:off x="345861" y="8108319"/>
            <a:ext cx="13931940" cy="1698777"/>
          </a:xfrm>
          <a:prstGeom prst="rect">
            <a:avLst/>
          </a:prstGeom>
        </p:spPr>
        <p:txBody>
          <a:bodyPr lIns="0" tIns="0" rIns="0" bIns="0" rtlCol="0" anchor="t">
            <a:spAutoFit/>
          </a:bodyPr>
          <a:lstStyle/>
          <a:p>
            <a:pPr algn="l">
              <a:lnSpc>
                <a:spcPts val="4541"/>
              </a:lnSpc>
            </a:pPr>
            <a:r>
              <a:rPr lang="en-US" sz="3244" i="1">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“You should list the real-world gap or problem does this project addresses</a:t>
            </a:r>
          </a:p>
          <a:p>
            <a:pPr algn="l">
              <a:lnSpc>
                <a:spcPts val="4541"/>
              </a:lnSpc>
              <a:spcBef>
                <a:spcPct val="0"/>
              </a:spcBef>
            </a:pPr>
            <a:r>
              <a:rPr lang="en-US" sz="3244" i="1">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During presentation, you should define and explain the point and why it matters and you can provide data charts or figures regarding your claims.”</a:t>
            </a:r>
          </a:p>
        </p:txBody>
      </p:sp>
      <p:sp>
        <p:nvSpPr>
          <p:cNvPr id="6" name="Slide Number Placeholder 5">
            <a:extLst>
              <a:ext uri="{FF2B5EF4-FFF2-40B4-BE49-F238E27FC236}">
                <a16:creationId xmlns:a16="http://schemas.microsoft.com/office/drawing/2014/main" id="{C37E714A-4114-A8C4-EE18-312B9366FE98}"/>
              </a:ext>
            </a:extLst>
          </p:cNvPr>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92044" y="648102"/>
            <a:ext cx="16748695" cy="1193800"/>
          </a:xfrm>
          <a:prstGeom prst="rect">
            <a:avLst/>
          </a:prstGeom>
        </p:spPr>
        <p:txBody>
          <a:bodyPr lIns="0" tIns="0" rIns="0" bIns="0" rtlCol="0" anchor="t">
            <a:spAutoFit/>
          </a:bodyPr>
          <a:lstStyle/>
          <a:p>
            <a:pPr algn="l">
              <a:lnSpc>
                <a:spcPts val="9799"/>
              </a:lnSpc>
            </a:pPr>
            <a:r>
              <a:rPr lang="en-US" sz="6999" b="1" dirty="0">
                <a:solidFill>
                  <a:srgbClr val="FFFFFF"/>
                </a:solidFill>
                <a:latin typeface="Arial Nova Condensed Bold"/>
                <a:ea typeface="Arial Nova Condensed Bold"/>
                <a:cs typeface="Arial Nova Condensed Bold"/>
                <a:sym typeface="Arial Nova Condensed Bold"/>
              </a:rPr>
              <a:t>Project Objectives</a:t>
            </a:r>
          </a:p>
        </p:txBody>
      </p:sp>
      <p:sp>
        <p:nvSpPr>
          <p:cNvPr id="4" name="TextBox 4"/>
          <p:cNvSpPr txBox="1"/>
          <p:nvPr/>
        </p:nvSpPr>
        <p:spPr>
          <a:xfrm>
            <a:off x="571951" y="2408555"/>
            <a:ext cx="17344815" cy="2734945"/>
          </a:xfrm>
          <a:prstGeom prst="rect">
            <a:avLst/>
          </a:prstGeom>
        </p:spPr>
        <p:txBody>
          <a:bodyPr lIns="0" tIns="0" rIns="0" bIns="0" rtlCol="0" anchor="t">
            <a:spAutoFit/>
          </a:bodyPr>
          <a:lstStyle/>
          <a:p>
            <a:pPr marL="1122679" lvl="1" indent="-561340" algn="l">
              <a:lnSpc>
                <a:spcPts val="7279"/>
              </a:lnSpc>
              <a:buFont typeface="Arial"/>
              <a:buChar char="•"/>
            </a:pPr>
            <a:r>
              <a:rPr lang="en-US" sz="5199">
                <a:solidFill>
                  <a:srgbClr val="FFFFFF"/>
                </a:solidFill>
                <a:latin typeface="Arial Nova Condensed"/>
                <a:ea typeface="Arial Nova Condensed"/>
                <a:cs typeface="Arial Nova Condensed"/>
                <a:sym typeface="Arial Nova Condensed"/>
              </a:rPr>
              <a:t>Item</a:t>
            </a:r>
          </a:p>
          <a:p>
            <a:pPr marL="1122679" lvl="1" indent="-561340" algn="l">
              <a:lnSpc>
                <a:spcPts val="7279"/>
              </a:lnSpc>
              <a:buFont typeface="Arial"/>
              <a:buChar char="•"/>
            </a:pPr>
            <a:r>
              <a:rPr lang="en-US" sz="5199">
                <a:solidFill>
                  <a:srgbClr val="FFFFFF"/>
                </a:solidFill>
                <a:latin typeface="Arial Nova Condensed"/>
                <a:ea typeface="Arial Nova Condensed"/>
                <a:cs typeface="Arial Nova Condensed"/>
                <a:sym typeface="Arial Nova Condensed"/>
              </a:rPr>
              <a:t>Item</a:t>
            </a:r>
          </a:p>
          <a:p>
            <a:pPr marL="1122679" lvl="1" indent="-561340" algn="l">
              <a:lnSpc>
                <a:spcPts val="7279"/>
              </a:lnSpc>
              <a:buFont typeface="Arial"/>
              <a:buChar char="•"/>
            </a:pPr>
            <a:r>
              <a:rPr lang="en-US" sz="5199">
                <a:solidFill>
                  <a:srgbClr val="FFFFFF"/>
                </a:solidFill>
                <a:latin typeface="Arial Nova Condensed"/>
                <a:ea typeface="Arial Nova Condensed"/>
                <a:cs typeface="Arial Nova Condensed"/>
                <a:sym typeface="Arial Nova Condensed"/>
              </a:rPr>
              <a:t>Item</a:t>
            </a:r>
          </a:p>
        </p:txBody>
      </p:sp>
      <p:sp>
        <p:nvSpPr>
          <p:cNvPr id="5" name="TextBox 5"/>
          <p:cNvSpPr txBox="1"/>
          <p:nvPr/>
        </p:nvSpPr>
        <p:spPr>
          <a:xfrm>
            <a:off x="408744" y="8661324"/>
            <a:ext cx="13931940" cy="1127277"/>
          </a:xfrm>
          <a:prstGeom prst="rect">
            <a:avLst/>
          </a:prstGeom>
        </p:spPr>
        <p:txBody>
          <a:bodyPr lIns="0" tIns="0" rIns="0" bIns="0" rtlCol="0" anchor="t">
            <a:spAutoFit/>
          </a:bodyPr>
          <a:lstStyle/>
          <a:p>
            <a:pPr algn="l">
              <a:lnSpc>
                <a:spcPts val="4541"/>
              </a:lnSpc>
              <a:spcBef>
                <a:spcPct val="0"/>
              </a:spcBef>
            </a:pPr>
            <a:r>
              <a:rPr lang="en-US" sz="3244" i="1">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“State here the specific and measurable goals that you have achieved in your graduation project”</a:t>
            </a:r>
          </a:p>
        </p:txBody>
      </p:sp>
      <p:sp>
        <p:nvSpPr>
          <p:cNvPr id="6" name="Slide Number Placeholder 5">
            <a:extLst>
              <a:ext uri="{FF2B5EF4-FFF2-40B4-BE49-F238E27FC236}">
                <a16:creationId xmlns:a16="http://schemas.microsoft.com/office/drawing/2014/main" id="{06509324-0459-747D-FC53-5AFAF284C73C}"/>
              </a:ext>
            </a:extLst>
          </p:cNvPr>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a:extLst>
            <a:ext uri="{FF2B5EF4-FFF2-40B4-BE49-F238E27FC236}">
              <a16:creationId xmlns:a16="http://schemas.microsoft.com/office/drawing/2014/main" id="{42926BBE-917D-E4B7-FDD2-CE04EB66B4E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D441ABA-7C8E-3E8E-5A7F-0B4720EF02B4}"/>
              </a:ext>
            </a:extLst>
          </p:cNvPr>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a:extLst>
              <a:ext uri="{FF2B5EF4-FFF2-40B4-BE49-F238E27FC236}">
                <a16:creationId xmlns:a16="http://schemas.microsoft.com/office/drawing/2014/main" id="{01567D8B-BA63-D041-3EEA-62D25AAFCBB3}"/>
              </a:ext>
            </a:extLst>
          </p:cNvPr>
          <p:cNvSpPr txBox="1"/>
          <p:nvPr/>
        </p:nvSpPr>
        <p:spPr>
          <a:xfrm>
            <a:off x="792044" y="648102"/>
            <a:ext cx="16748695" cy="1145185"/>
          </a:xfrm>
          <a:prstGeom prst="rect">
            <a:avLst/>
          </a:prstGeom>
        </p:spPr>
        <p:txBody>
          <a:bodyPr lIns="0" tIns="0" rIns="0" bIns="0" rtlCol="0" anchor="t">
            <a:spAutoFit/>
          </a:bodyPr>
          <a:lstStyle/>
          <a:p>
            <a:pPr algn="l">
              <a:lnSpc>
                <a:spcPts val="9799"/>
              </a:lnSpc>
            </a:pPr>
            <a:r>
              <a:rPr lang="en-US" sz="6999" b="1" dirty="0">
                <a:solidFill>
                  <a:srgbClr val="FFFFFF"/>
                </a:solidFill>
                <a:latin typeface="Arial Nova Condensed Bold"/>
                <a:ea typeface="Arial Nova Condensed Bold"/>
                <a:cs typeface="Arial Nova Condensed Bold"/>
                <a:sym typeface="Arial Nova Condensed Bold"/>
              </a:rPr>
              <a:t>Project Timeline</a:t>
            </a:r>
          </a:p>
        </p:txBody>
      </p:sp>
      <p:sp>
        <p:nvSpPr>
          <p:cNvPr id="5" name="TextBox 5">
            <a:extLst>
              <a:ext uri="{FF2B5EF4-FFF2-40B4-BE49-F238E27FC236}">
                <a16:creationId xmlns:a16="http://schemas.microsoft.com/office/drawing/2014/main" id="{EEEFE656-F5C1-B73A-A6B2-B3AD75B99C2C}"/>
              </a:ext>
            </a:extLst>
          </p:cNvPr>
          <p:cNvSpPr txBox="1"/>
          <p:nvPr/>
        </p:nvSpPr>
        <p:spPr>
          <a:xfrm>
            <a:off x="408744" y="8661324"/>
            <a:ext cx="13931940" cy="526747"/>
          </a:xfrm>
          <a:prstGeom prst="rect">
            <a:avLst/>
          </a:prstGeom>
        </p:spPr>
        <p:txBody>
          <a:bodyPr lIns="0" tIns="0" rIns="0" bIns="0" rtlCol="0" anchor="t">
            <a:spAutoFit/>
          </a:bodyPr>
          <a:lstStyle/>
          <a:p>
            <a:pPr>
              <a:lnSpc>
                <a:spcPts val="4541"/>
              </a:lnSpc>
              <a:spcBef>
                <a:spcPct val="0"/>
              </a:spcBef>
            </a:pPr>
            <a:r>
              <a:rPr lang="en-US" sz="3244" i="1" dirty="0">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“Show a clear timeline outlining each stage of your project from beginning to end.”</a:t>
            </a:r>
          </a:p>
        </p:txBody>
      </p:sp>
      <p:sp>
        <p:nvSpPr>
          <p:cNvPr id="6" name="Slide Number Placeholder 5">
            <a:extLst>
              <a:ext uri="{FF2B5EF4-FFF2-40B4-BE49-F238E27FC236}">
                <a16:creationId xmlns:a16="http://schemas.microsoft.com/office/drawing/2014/main" id="{A7810921-1EC5-58A4-F213-1B871EBFE818}"/>
              </a:ext>
            </a:extLst>
          </p:cNvPr>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1488877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Solutions and Systems Architecture</a:t>
            </a:r>
          </a:p>
        </p:txBody>
      </p:sp>
      <p:sp>
        <p:nvSpPr>
          <p:cNvPr id="4" name="Slide Number Placeholder 3">
            <a:extLst>
              <a:ext uri="{FF2B5EF4-FFF2-40B4-BE49-F238E27FC236}">
                <a16:creationId xmlns:a16="http://schemas.microsoft.com/office/drawing/2014/main" id="{EA2591CE-2B32-C907-3BA2-20034B7CBA32}"/>
              </a:ext>
            </a:extLst>
          </p:cNvPr>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[Name of solutions or Figures - Part 1]</a:t>
            </a:r>
          </a:p>
        </p:txBody>
      </p:sp>
      <p:sp>
        <p:nvSpPr>
          <p:cNvPr id="4" name="TextBox 4"/>
          <p:cNvSpPr txBox="1"/>
          <p:nvPr/>
        </p:nvSpPr>
        <p:spPr>
          <a:xfrm>
            <a:off x="330140" y="8108319"/>
            <a:ext cx="13931940" cy="1698777"/>
          </a:xfrm>
          <a:prstGeom prst="rect">
            <a:avLst/>
          </a:prstGeom>
        </p:spPr>
        <p:txBody>
          <a:bodyPr lIns="0" tIns="0" rIns="0" bIns="0" rtlCol="0" anchor="t">
            <a:spAutoFit/>
          </a:bodyPr>
          <a:lstStyle/>
          <a:p>
            <a:pPr algn="l">
              <a:lnSpc>
                <a:spcPts val="4541"/>
              </a:lnSpc>
              <a:spcBef>
                <a:spcPct val="0"/>
              </a:spcBef>
            </a:pPr>
            <a:r>
              <a:rPr lang="en-US" sz="3244" i="1">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“The goal of these slides is to present or show a high-level overview of how the project works. You can use flowcharts or block diagrams showing the interaction between different components of your solutions.”</a:t>
            </a:r>
          </a:p>
        </p:txBody>
      </p:sp>
      <p:sp>
        <p:nvSpPr>
          <p:cNvPr id="5" name="Slide Number Placeholder 4">
            <a:extLst>
              <a:ext uri="{FF2B5EF4-FFF2-40B4-BE49-F238E27FC236}">
                <a16:creationId xmlns:a16="http://schemas.microsoft.com/office/drawing/2014/main" id="{4DA0D847-4566-CBA7-31C8-D02AC4E1476F}"/>
              </a:ext>
            </a:extLst>
          </p:cNvPr>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[Name of solutions or Figures - Part 2]</a:t>
            </a:r>
          </a:p>
        </p:txBody>
      </p:sp>
      <p:sp>
        <p:nvSpPr>
          <p:cNvPr id="4" name="TextBox 4"/>
          <p:cNvSpPr txBox="1"/>
          <p:nvPr/>
        </p:nvSpPr>
        <p:spPr>
          <a:xfrm>
            <a:off x="330140" y="8108319"/>
            <a:ext cx="13931940" cy="1698777"/>
          </a:xfrm>
          <a:prstGeom prst="rect">
            <a:avLst/>
          </a:prstGeom>
        </p:spPr>
        <p:txBody>
          <a:bodyPr lIns="0" tIns="0" rIns="0" bIns="0" rtlCol="0" anchor="t">
            <a:spAutoFit/>
          </a:bodyPr>
          <a:lstStyle/>
          <a:p>
            <a:pPr algn="l">
              <a:lnSpc>
                <a:spcPts val="4541"/>
              </a:lnSpc>
              <a:spcBef>
                <a:spcPct val="0"/>
              </a:spcBef>
            </a:pPr>
            <a:r>
              <a:rPr lang="en-US" sz="3244" i="1">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“The goal of these slides is to present or show a high-level overview of how the project works. You can use flowcharts or block diagrams showing the interaction between different components of your solutions.”</a:t>
            </a:r>
          </a:p>
        </p:txBody>
      </p:sp>
      <p:sp>
        <p:nvSpPr>
          <p:cNvPr id="5" name="Slide Number Placeholder 4">
            <a:extLst>
              <a:ext uri="{FF2B5EF4-FFF2-40B4-BE49-F238E27FC236}">
                <a16:creationId xmlns:a16="http://schemas.microsoft.com/office/drawing/2014/main" id="{27AA3DC2-B25D-B720-61FE-D75A897AE18C}"/>
              </a:ext>
            </a:extLst>
          </p:cNvPr>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[Name of solutions or Figures - Part n]</a:t>
            </a:r>
          </a:p>
        </p:txBody>
      </p:sp>
      <p:sp>
        <p:nvSpPr>
          <p:cNvPr id="4" name="TextBox 4"/>
          <p:cNvSpPr txBox="1"/>
          <p:nvPr/>
        </p:nvSpPr>
        <p:spPr>
          <a:xfrm>
            <a:off x="330140" y="8108319"/>
            <a:ext cx="13931940" cy="1698777"/>
          </a:xfrm>
          <a:prstGeom prst="rect">
            <a:avLst/>
          </a:prstGeom>
        </p:spPr>
        <p:txBody>
          <a:bodyPr lIns="0" tIns="0" rIns="0" bIns="0" rtlCol="0" anchor="t">
            <a:spAutoFit/>
          </a:bodyPr>
          <a:lstStyle/>
          <a:p>
            <a:pPr algn="l">
              <a:lnSpc>
                <a:spcPts val="4541"/>
              </a:lnSpc>
              <a:spcBef>
                <a:spcPct val="0"/>
              </a:spcBef>
            </a:pPr>
            <a:r>
              <a:rPr lang="en-US" sz="3244" i="1">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“The goal of these slides is to present or show a high-level overview of how the project works. You can use flowcharts or block diagrams showing the interaction between different components of your solutions.”</a:t>
            </a:r>
          </a:p>
        </p:txBody>
      </p:sp>
      <p:sp>
        <p:nvSpPr>
          <p:cNvPr id="5" name="Slide Number Placeholder 4">
            <a:extLst>
              <a:ext uri="{FF2B5EF4-FFF2-40B4-BE49-F238E27FC236}">
                <a16:creationId xmlns:a16="http://schemas.microsoft.com/office/drawing/2014/main" id="{989EC5C1-D8D8-FE21-6F74-C60F514C5DF1}"/>
              </a:ext>
            </a:extLst>
          </p:cNvPr>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Tools and Technologies Used</a:t>
            </a:r>
          </a:p>
        </p:txBody>
      </p:sp>
      <p:sp>
        <p:nvSpPr>
          <p:cNvPr id="4" name="Slide Number Placeholder 3">
            <a:extLst>
              <a:ext uri="{FF2B5EF4-FFF2-40B4-BE49-F238E27FC236}">
                <a16:creationId xmlns:a16="http://schemas.microsoft.com/office/drawing/2014/main" id="{7B45B6A5-E6FE-C0ED-45FE-580B6BA29322}"/>
              </a:ext>
            </a:extLst>
          </p:cNvPr>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[Tools or Software Used - Part 1]</a:t>
            </a:r>
          </a:p>
        </p:txBody>
      </p:sp>
      <p:sp>
        <p:nvSpPr>
          <p:cNvPr id="4" name="TextBox 4"/>
          <p:cNvSpPr txBox="1"/>
          <p:nvPr/>
        </p:nvSpPr>
        <p:spPr>
          <a:xfrm>
            <a:off x="345861" y="8108319"/>
            <a:ext cx="14552075" cy="1698777"/>
          </a:xfrm>
          <a:prstGeom prst="rect">
            <a:avLst/>
          </a:prstGeom>
        </p:spPr>
        <p:txBody>
          <a:bodyPr lIns="0" tIns="0" rIns="0" bIns="0" rtlCol="0" anchor="t">
            <a:spAutoFit/>
          </a:bodyPr>
          <a:lstStyle/>
          <a:p>
            <a:pPr algn="l">
              <a:lnSpc>
                <a:spcPts val="4541"/>
              </a:lnSpc>
              <a:spcBef>
                <a:spcPct val="0"/>
              </a:spcBef>
            </a:pPr>
            <a:r>
              <a:rPr lang="en-US" sz="3244" i="1">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“Present here the different software (Python, React, etc.), hardware (Arduino, Sensors), Frameworks or any other tools you have used in your Graduation Project. For visual purposes, you can present a grid of logos for the tech stack for quick recognition.”</a:t>
            </a:r>
          </a:p>
        </p:txBody>
      </p:sp>
      <p:sp>
        <p:nvSpPr>
          <p:cNvPr id="5" name="Slide Number Placeholder 4">
            <a:extLst>
              <a:ext uri="{FF2B5EF4-FFF2-40B4-BE49-F238E27FC236}">
                <a16:creationId xmlns:a16="http://schemas.microsoft.com/office/drawing/2014/main" id="{7591DBC7-2DB6-A7EC-91C8-AB45113CBFDB}"/>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[Tools or Software Used - Part 2]</a:t>
            </a:r>
          </a:p>
        </p:txBody>
      </p:sp>
      <p:sp>
        <p:nvSpPr>
          <p:cNvPr id="4" name="TextBox 4"/>
          <p:cNvSpPr txBox="1"/>
          <p:nvPr/>
        </p:nvSpPr>
        <p:spPr>
          <a:xfrm>
            <a:off x="345861" y="8108319"/>
            <a:ext cx="14552075" cy="1698777"/>
          </a:xfrm>
          <a:prstGeom prst="rect">
            <a:avLst/>
          </a:prstGeom>
        </p:spPr>
        <p:txBody>
          <a:bodyPr lIns="0" tIns="0" rIns="0" bIns="0" rtlCol="0" anchor="t">
            <a:spAutoFit/>
          </a:bodyPr>
          <a:lstStyle/>
          <a:p>
            <a:pPr algn="l">
              <a:lnSpc>
                <a:spcPts val="4541"/>
              </a:lnSpc>
              <a:spcBef>
                <a:spcPct val="0"/>
              </a:spcBef>
            </a:pPr>
            <a:r>
              <a:rPr lang="en-US" sz="3244" i="1">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“Present here the different software (Python, React, etc.), hardware (Arduino, Sensors), Frameworks or any other tools you have used in your Graduation Project. For visual purposes, you can present a grid of logos for the tech stack for quick recognition.”</a:t>
            </a:r>
          </a:p>
        </p:txBody>
      </p:sp>
      <p:sp>
        <p:nvSpPr>
          <p:cNvPr id="5" name="Slide Number Placeholder 4">
            <a:extLst>
              <a:ext uri="{FF2B5EF4-FFF2-40B4-BE49-F238E27FC236}">
                <a16:creationId xmlns:a16="http://schemas.microsoft.com/office/drawing/2014/main" id="{164651BC-617B-EA31-35D1-A256E01C6660}"/>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[Tools or Software Used - Part n]</a:t>
            </a:r>
          </a:p>
        </p:txBody>
      </p:sp>
      <p:sp>
        <p:nvSpPr>
          <p:cNvPr id="4" name="TextBox 4"/>
          <p:cNvSpPr txBox="1"/>
          <p:nvPr/>
        </p:nvSpPr>
        <p:spPr>
          <a:xfrm>
            <a:off x="345861" y="8108319"/>
            <a:ext cx="14552075" cy="1698777"/>
          </a:xfrm>
          <a:prstGeom prst="rect">
            <a:avLst/>
          </a:prstGeom>
        </p:spPr>
        <p:txBody>
          <a:bodyPr lIns="0" tIns="0" rIns="0" bIns="0" rtlCol="0" anchor="t">
            <a:spAutoFit/>
          </a:bodyPr>
          <a:lstStyle/>
          <a:p>
            <a:pPr algn="l">
              <a:lnSpc>
                <a:spcPts val="4541"/>
              </a:lnSpc>
              <a:spcBef>
                <a:spcPct val="0"/>
              </a:spcBef>
            </a:pPr>
            <a:r>
              <a:rPr lang="en-US" sz="3244" i="1">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“Present here the different software (Python, React, etc.), hardware (Arduino, Sensors), Frameworks or any other tools you have used in your Graduation Project. For visual purposes, you can present a grid of logos for the tech stack for quick recognition.”</a:t>
            </a:r>
          </a:p>
        </p:txBody>
      </p:sp>
      <p:sp>
        <p:nvSpPr>
          <p:cNvPr id="5" name="Slide Number Placeholder 4">
            <a:extLst>
              <a:ext uri="{FF2B5EF4-FFF2-40B4-BE49-F238E27FC236}">
                <a16:creationId xmlns:a16="http://schemas.microsoft.com/office/drawing/2014/main" id="{07348DE0-6010-C41D-19D7-A9A537CDA5F2}"/>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Development Process</a:t>
            </a:r>
          </a:p>
        </p:txBody>
      </p:sp>
      <p:sp>
        <p:nvSpPr>
          <p:cNvPr id="4" name="Slide Number Placeholder 3">
            <a:extLst>
              <a:ext uri="{FF2B5EF4-FFF2-40B4-BE49-F238E27FC236}">
                <a16:creationId xmlns:a16="http://schemas.microsoft.com/office/drawing/2014/main" id="{EFC3D6D6-9D4F-60BD-A87E-2D1F28FB5282}"/>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Development Process Diagram</a:t>
            </a:r>
          </a:p>
        </p:txBody>
      </p:sp>
      <p:sp>
        <p:nvSpPr>
          <p:cNvPr id="4" name="TextBox 4"/>
          <p:cNvSpPr txBox="1"/>
          <p:nvPr/>
        </p:nvSpPr>
        <p:spPr>
          <a:xfrm>
            <a:off x="345861" y="8702523"/>
            <a:ext cx="14552075" cy="555777"/>
          </a:xfrm>
          <a:prstGeom prst="rect">
            <a:avLst/>
          </a:prstGeom>
        </p:spPr>
        <p:txBody>
          <a:bodyPr lIns="0" tIns="0" rIns="0" bIns="0" rtlCol="0" anchor="t">
            <a:spAutoFit/>
          </a:bodyPr>
          <a:lstStyle/>
          <a:p>
            <a:pPr algn="l">
              <a:lnSpc>
                <a:spcPts val="4541"/>
              </a:lnSpc>
              <a:spcBef>
                <a:spcPct val="0"/>
              </a:spcBef>
            </a:pPr>
            <a:r>
              <a:rPr lang="en-US" sz="3244" i="1">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“Provide a visual diagram showing each stage of the project development process.”</a:t>
            </a:r>
          </a:p>
        </p:txBody>
      </p:sp>
      <p:sp>
        <p:nvSpPr>
          <p:cNvPr id="5" name="Slide Number Placeholder 4">
            <a:extLst>
              <a:ext uri="{FF2B5EF4-FFF2-40B4-BE49-F238E27FC236}">
                <a16:creationId xmlns:a16="http://schemas.microsoft.com/office/drawing/2014/main" id="{41E8A70F-2899-01AC-A3F2-5992477A3D1F}"/>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Challenges Encountered and Resolutions</a:t>
            </a:r>
          </a:p>
        </p:txBody>
      </p:sp>
      <p:sp>
        <p:nvSpPr>
          <p:cNvPr id="4" name="Slide Number Placeholder 3">
            <a:extLst>
              <a:ext uri="{FF2B5EF4-FFF2-40B4-BE49-F238E27FC236}">
                <a16:creationId xmlns:a16="http://schemas.microsoft.com/office/drawing/2014/main" id="{58142518-66EE-3ED0-D1DF-0772A84497B5}"/>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477626" y="895350"/>
            <a:ext cx="7944967"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Challenges </a:t>
            </a:r>
          </a:p>
        </p:txBody>
      </p:sp>
      <p:sp>
        <p:nvSpPr>
          <p:cNvPr id="4" name="TextBox 4"/>
          <p:cNvSpPr txBox="1"/>
          <p:nvPr/>
        </p:nvSpPr>
        <p:spPr>
          <a:xfrm>
            <a:off x="9238326" y="895350"/>
            <a:ext cx="6329470" cy="1193800"/>
          </a:xfrm>
          <a:prstGeom prst="rect">
            <a:avLst/>
          </a:prstGeom>
        </p:spPr>
        <p:txBody>
          <a:bodyPr lIns="0" tIns="0" rIns="0" bIns="0" rtlCol="0" anchor="t">
            <a:spAutoFit/>
          </a:bodyPr>
          <a:lstStyle/>
          <a:p>
            <a:pPr algn="l">
              <a:lnSpc>
                <a:spcPts val="9799"/>
              </a:lnSpc>
            </a:pPr>
            <a:r>
              <a:rPr lang="en-US" sz="6999" b="1">
                <a:solidFill>
                  <a:srgbClr val="FFFFFF"/>
                </a:solidFill>
                <a:latin typeface="Arial Nova Condensed Bold"/>
                <a:ea typeface="Arial Nova Condensed Bold"/>
                <a:cs typeface="Arial Nova Condensed Bold"/>
                <a:sym typeface="Arial Nova Condensed Bold"/>
              </a:rPr>
              <a:t>Resolutions</a:t>
            </a:r>
          </a:p>
        </p:txBody>
      </p:sp>
      <p:sp>
        <p:nvSpPr>
          <p:cNvPr id="5" name="TextBox 5"/>
          <p:cNvSpPr txBox="1"/>
          <p:nvPr/>
        </p:nvSpPr>
        <p:spPr>
          <a:xfrm>
            <a:off x="477626" y="2597206"/>
            <a:ext cx="7944967" cy="2734945"/>
          </a:xfrm>
          <a:prstGeom prst="rect">
            <a:avLst/>
          </a:prstGeom>
        </p:spPr>
        <p:txBody>
          <a:bodyPr lIns="0" tIns="0" rIns="0" bIns="0" rtlCol="0" anchor="t">
            <a:spAutoFit/>
          </a:bodyPr>
          <a:lstStyle/>
          <a:p>
            <a:pPr marL="1122679" lvl="1" indent="-561340" algn="l">
              <a:lnSpc>
                <a:spcPts val="7279"/>
              </a:lnSpc>
              <a:buFont typeface="Arial"/>
              <a:buChar char="•"/>
            </a:pPr>
            <a:r>
              <a:rPr lang="en-US" sz="5199">
                <a:solidFill>
                  <a:srgbClr val="FFFFFF"/>
                </a:solidFill>
                <a:latin typeface="Arial Nova Condensed"/>
                <a:ea typeface="Arial Nova Condensed"/>
                <a:cs typeface="Arial Nova Condensed"/>
                <a:sym typeface="Arial Nova Condensed"/>
              </a:rPr>
              <a:t>Item</a:t>
            </a:r>
          </a:p>
          <a:p>
            <a:pPr marL="1122679" lvl="1" indent="-561340" algn="l">
              <a:lnSpc>
                <a:spcPts val="7279"/>
              </a:lnSpc>
              <a:buFont typeface="Arial"/>
              <a:buChar char="•"/>
            </a:pPr>
            <a:r>
              <a:rPr lang="en-US" sz="5199">
                <a:solidFill>
                  <a:srgbClr val="FFFFFF"/>
                </a:solidFill>
                <a:latin typeface="Arial Nova Condensed"/>
                <a:ea typeface="Arial Nova Condensed"/>
                <a:cs typeface="Arial Nova Condensed"/>
                <a:sym typeface="Arial Nova Condensed"/>
              </a:rPr>
              <a:t>Item</a:t>
            </a:r>
          </a:p>
          <a:p>
            <a:pPr marL="1122679" lvl="1" indent="-561340" algn="l">
              <a:lnSpc>
                <a:spcPts val="7279"/>
              </a:lnSpc>
              <a:buFont typeface="Arial"/>
              <a:buChar char="•"/>
            </a:pPr>
            <a:r>
              <a:rPr lang="en-US" sz="5199">
                <a:solidFill>
                  <a:srgbClr val="FFFFFF"/>
                </a:solidFill>
                <a:latin typeface="Arial Nova Condensed"/>
                <a:ea typeface="Arial Nova Condensed"/>
                <a:cs typeface="Arial Nova Condensed"/>
                <a:sym typeface="Arial Nova Condensed"/>
              </a:rPr>
              <a:t>Item</a:t>
            </a:r>
          </a:p>
        </p:txBody>
      </p:sp>
      <p:sp>
        <p:nvSpPr>
          <p:cNvPr id="6" name="TextBox 6"/>
          <p:cNvSpPr txBox="1"/>
          <p:nvPr/>
        </p:nvSpPr>
        <p:spPr>
          <a:xfrm>
            <a:off x="8782418" y="2597206"/>
            <a:ext cx="9075600" cy="2734945"/>
          </a:xfrm>
          <a:prstGeom prst="rect">
            <a:avLst/>
          </a:prstGeom>
        </p:spPr>
        <p:txBody>
          <a:bodyPr lIns="0" tIns="0" rIns="0" bIns="0" rtlCol="0" anchor="t">
            <a:spAutoFit/>
          </a:bodyPr>
          <a:lstStyle/>
          <a:p>
            <a:pPr marL="1122679" lvl="1" indent="-561340" algn="l">
              <a:lnSpc>
                <a:spcPts val="7279"/>
              </a:lnSpc>
              <a:buFont typeface="Arial"/>
              <a:buChar char="•"/>
            </a:pPr>
            <a:r>
              <a:rPr lang="en-US" sz="5199">
                <a:solidFill>
                  <a:srgbClr val="FFFFFF"/>
                </a:solidFill>
                <a:latin typeface="Arial Nova Condensed"/>
                <a:ea typeface="Arial Nova Condensed"/>
                <a:cs typeface="Arial Nova Condensed"/>
                <a:sym typeface="Arial Nova Condensed"/>
              </a:rPr>
              <a:t>Item</a:t>
            </a:r>
          </a:p>
          <a:p>
            <a:pPr marL="1122679" lvl="1" indent="-561340" algn="l">
              <a:lnSpc>
                <a:spcPts val="7279"/>
              </a:lnSpc>
              <a:buFont typeface="Arial"/>
              <a:buChar char="•"/>
            </a:pPr>
            <a:r>
              <a:rPr lang="en-US" sz="5199">
                <a:solidFill>
                  <a:srgbClr val="FFFFFF"/>
                </a:solidFill>
                <a:latin typeface="Arial Nova Condensed"/>
                <a:ea typeface="Arial Nova Condensed"/>
                <a:cs typeface="Arial Nova Condensed"/>
                <a:sym typeface="Arial Nova Condensed"/>
              </a:rPr>
              <a:t>Item</a:t>
            </a:r>
          </a:p>
          <a:p>
            <a:pPr marL="1122679" lvl="1" indent="-561340" algn="l">
              <a:lnSpc>
                <a:spcPts val="7279"/>
              </a:lnSpc>
              <a:buFont typeface="Arial"/>
              <a:buChar char="•"/>
            </a:pPr>
            <a:r>
              <a:rPr lang="en-US" sz="5199">
                <a:solidFill>
                  <a:srgbClr val="FFFFFF"/>
                </a:solidFill>
                <a:latin typeface="Arial Nova Condensed"/>
                <a:ea typeface="Arial Nova Condensed"/>
                <a:cs typeface="Arial Nova Condensed"/>
                <a:sym typeface="Arial Nova Condensed"/>
              </a:rPr>
              <a:t>Item</a:t>
            </a:r>
          </a:p>
        </p:txBody>
      </p:sp>
      <p:sp>
        <p:nvSpPr>
          <p:cNvPr id="7" name="AutoShape 7"/>
          <p:cNvSpPr/>
          <p:nvPr/>
        </p:nvSpPr>
        <p:spPr>
          <a:xfrm flipV="1">
            <a:off x="8035419" y="1028760"/>
            <a:ext cx="0" cy="8229540"/>
          </a:xfrm>
          <a:prstGeom prst="line">
            <a:avLst/>
          </a:prstGeom>
          <a:ln w="38100" cap="flat">
            <a:solidFill>
              <a:srgbClr val="FFFFFF"/>
            </a:solidFill>
            <a:prstDash val="solid"/>
            <a:headEnd type="none" w="sm" len="sm"/>
            <a:tailEnd type="none" w="sm" len="sm"/>
          </a:ln>
        </p:spPr>
        <p:txBody>
          <a:bodyPr/>
          <a:lstStyle/>
          <a:p>
            <a:endParaRPr lang="en-UZ"/>
          </a:p>
        </p:txBody>
      </p:sp>
      <p:sp>
        <p:nvSpPr>
          <p:cNvPr id="8" name="Slide Number Placeholder 7">
            <a:extLst>
              <a:ext uri="{FF2B5EF4-FFF2-40B4-BE49-F238E27FC236}">
                <a16:creationId xmlns:a16="http://schemas.microsoft.com/office/drawing/2014/main" id="{E1A9E05A-2FCC-D586-A394-D90D54E2A3EF}"/>
              </a:ext>
            </a:extLst>
          </p:cNvPr>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Results</a:t>
            </a:r>
          </a:p>
        </p:txBody>
      </p:sp>
      <p:sp>
        <p:nvSpPr>
          <p:cNvPr id="4" name="Slide Number Placeholder 3">
            <a:extLst>
              <a:ext uri="{FF2B5EF4-FFF2-40B4-BE49-F238E27FC236}">
                <a16:creationId xmlns:a16="http://schemas.microsoft.com/office/drawing/2014/main" id="{C7D149D8-ED8F-3657-7867-D1AFA4A686B1}"/>
              </a:ext>
            </a:extLst>
          </p:cNvPr>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Results - [Problem/Objective 1]</a:t>
            </a:r>
          </a:p>
        </p:txBody>
      </p:sp>
      <p:sp>
        <p:nvSpPr>
          <p:cNvPr id="4" name="TextBox 4"/>
          <p:cNvSpPr txBox="1"/>
          <p:nvPr/>
        </p:nvSpPr>
        <p:spPr>
          <a:xfrm>
            <a:off x="345861" y="8379409"/>
            <a:ext cx="14552075" cy="1127277"/>
          </a:xfrm>
          <a:prstGeom prst="rect">
            <a:avLst/>
          </a:prstGeom>
        </p:spPr>
        <p:txBody>
          <a:bodyPr lIns="0" tIns="0" rIns="0" bIns="0" rtlCol="0" anchor="t">
            <a:spAutoFit/>
          </a:bodyPr>
          <a:lstStyle/>
          <a:p>
            <a:pPr algn="l">
              <a:lnSpc>
                <a:spcPts val="4541"/>
              </a:lnSpc>
              <a:spcBef>
                <a:spcPct val="0"/>
              </a:spcBef>
            </a:pPr>
            <a:r>
              <a:rPr lang="en-US" sz="3244" i="1">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“Show the most relevant results aligned with the project’s objectives and challenges. This slide serves as evidence of your project’s success.”</a:t>
            </a:r>
          </a:p>
        </p:txBody>
      </p:sp>
      <p:sp>
        <p:nvSpPr>
          <p:cNvPr id="5" name="Slide Number Placeholder 4">
            <a:extLst>
              <a:ext uri="{FF2B5EF4-FFF2-40B4-BE49-F238E27FC236}">
                <a16:creationId xmlns:a16="http://schemas.microsoft.com/office/drawing/2014/main" id="{7084A0E4-F27D-5DBE-C6EE-D73B29D370E4}"/>
              </a:ext>
            </a:extLst>
          </p:cNvPr>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Results - [Problem/Objective 2]</a:t>
            </a:r>
          </a:p>
        </p:txBody>
      </p:sp>
      <p:sp>
        <p:nvSpPr>
          <p:cNvPr id="4" name="TextBox 4"/>
          <p:cNvSpPr txBox="1"/>
          <p:nvPr/>
        </p:nvSpPr>
        <p:spPr>
          <a:xfrm>
            <a:off x="345861" y="8379409"/>
            <a:ext cx="14552075" cy="1127277"/>
          </a:xfrm>
          <a:prstGeom prst="rect">
            <a:avLst/>
          </a:prstGeom>
        </p:spPr>
        <p:txBody>
          <a:bodyPr lIns="0" tIns="0" rIns="0" bIns="0" rtlCol="0" anchor="t">
            <a:spAutoFit/>
          </a:bodyPr>
          <a:lstStyle/>
          <a:p>
            <a:pPr algn="l">
              <a:lnSpc>
                <a:spcPts val="4541"/>
              </a:lnSpc>
              <a:spcBef>
                <a:spcPct val="0"/>
              </a:spcBef>
            </a:pPr>
            <a:r>
              <a:rPr lang="en-US" sz="3244" i="1">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“Show the most relevant results aligned with the project’s objectives and challenges. This slide serves as evidence of your project’s success.”</a:t>
            </a:r>
          </a:p>
        </p:txBody>
      </p:sp>
      <p:sp>
        <p:nvSpPr>
          <p:cNvPr id="5" name="Slide Number Placeholder 4">
            <a:extLst>
              <a:ext uri="{FF2B5EF4-FFF2-40B4-BE49-F238E27FC236}">
                <a16:creationId xmlns:a16="http://schemas.microsoft.com/office/drawing/2014/main" id="{6E993F5C-1B7E-6FA3-42C9-C3FC52412D58}"/>
              </a:ext>
            </a:extLst>
          </p:cNvPr>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Results - [Problem/Objective 3]</a:t>
            </a:r>
          </a:p>
        </p:txBody>
      </p:sp>
      <p:sp>
        <p:nvSpPr>
          <p:cNvPr id="4" name="TextBox 4"/>
          <p:cNvSpPr txBox="1"/>
          <p:nvPr/>
        </p:nvSpPr>
        <p:spPr>
          <a:xfrm>
            <a:off x="345861" y="8379409"/>
            <a:ext cx="14552075" cy="1127277"/>
          </a:xfrm>
          <a:prstGeom prst="rect">
            <a:avLst/>
          </a:prstGeom>
        </p:spPr>
        <p:txBody>
          <a:bodyPr lIns="0" tIns="0" rIns="0" bIns="0" rtlCol="0" anchor="t">
            <a:spAutoFit/>
          </a:bodyPr>
          <a:lstStyle/>
          <a:p>
            <a:pPr algn="l">
              <a:lnSpc>
                <a:spcPts val="4541"/>
              </a:lnSpc>
              <a:spcBef>
                <a:spcPct val="0"/>
              </a:spcBef>
            </a:pPr>
            <a:r>
              <a:rPr lang="en-US" sz="3244" i="1">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“Show the most relevant results aligned with the project’s objectives and challenges. This slide serves as evidence of your project’s success.”</a:t>
            </a:r>
          </a:p>
        </p:txBody>
      </p:sp>
      <p:sp>
        <p:nvSpPr>
          <p:cNvPr id="5" name="Slide Number Placeholder 4">
            <a:extLst>
              <a:ext uri="{FF2B5EF4-FFF2-40B4-BE49-F238E27FC236}">
                <a16:creationId xmlns:a16="http://schemas.microsoft.com/office/drawing/2014/main" id="{235843C6-D3FD-F447-0D46-D3FD284DA24E}"/>
              </a:ext>
            </a:extLst>
          </p:cNvPr>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The Live Demonstration</a:t>
            </a:r>
          </a:p>
        </p:txBody>
      </p:sp>
      <p:sp>
        <p:nvSpPr>
          <p:cNvPr id="4" name="Slide Number Placeholder 3">
            <a:extLst>
              <a:ext uri="{FF2B5EF4-FFF2-40B4-BE49-F238E27FC236}">
                <a16:creationId xmlns:a16="http://schemas.microsoft.com/office/drawing/2014/main" id="{FF014CCE-898E-5888-4DAC-82CDCD0BDB97}"/>
              </a:ext>
            </a:extLst>
          </p:cNvPr>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Future Scope and Impact</a:t>
            </a:r>
          </a:p>
        </p:txBody>
      </p:sp>
      <p:sp>
        <p:nvSpPr>
          <p:cNvPr id="4" name="Slide Number Placeholder 3">
            <a:extLst>
              <a:ext uri="{FF2B5EF4-FFF2-40B4-BE49-F238E27FC236}">
                <a16:creationId xmlns:a16="http://schemas.microsoft.com/office/drawing/2014/main" id="{5B5CBF2C-512D-CABF-10FE-A0003F214323}"/>
              </a:ext>
            </a:extLst>
          </p:cNvPr>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29161" y="895350"/>
            <a:ext cx="7127479" cy="1193800"/>
          </a:xfrm>
          <a:prstGeom prst="rect">
            <a:avLst/>
          </a:prstGeom>
        </p:spPr>
        <p:txBody>
          <a:bodyPr lIns="0" tIns="0" rIns="0" bIns="0" rtlCol="0" anchor="t">
            <a:spAutoFit/>
          </a:bodyPr>
          <a:lstStyle/>
          <a:p>
            <a:pPr algn="l">
              <a:lnSpc>
                <a:spcPts val="9799"/>
              </a:lnSpc>
            </a:pPr>
            <a:r>
              <a:rPr lang="en-US" sz="6999" b="1">
                <a:solidFill>
                  <a:srgbClr val="FFFFFF"/>
                </a:solidFill>
                <a:latin typeface="Arial Nova Condensed Bold"/>
                <a:ea typeface="Arial Nova Condensed Bold"/>
                <a:cs typeface="Arial Nova Condensed Bold"/>
                <a:sym typeface="Arial Nova Condensed Bold"/>
              </a:rPr>
              <a:t>Furture Scope</a:t>
            </a:r>
          </a:p>
        </p:txBody>
      </p:sp>
      <p:sp>
        <p:nvSpPr>
          <p:cNvPr id="4" name="TextBox 4"/>
          <p:cNvSpPr txBox="1"/>
          <p:nvPr/>
        </p:nvSpPr>
        <p:spPr>
          <a:xfrm>
            <a:off x="8782418" y="895350"/>
            <a:ext cx="7948727" cy="1193800"/>
          </a:xfrm>
          <a:prstGeom prst="rect">
            <a:avLst/>
          </a:prstGeom>
        </p:spPr>
        <p:txBody>
          <a:bodyPr lIns="0" tIns="0" rIns="0" bIns="0" rtlCol="0" anchor="t">
            <a:spAutoFit/>
          </a:bodyPr>
          <a:lstStyle/>
          <a:p>
            <a:pPr algn="l">
              <a:lnSpc>
                <a:spcPts val="9799"/>
              </a:lnSpc>
            </a:pPr>
            <a:r>
              <a:rPr lang="en-US" sz="6999" b="1">
                <a:solidFill>
                  <a:srgbClr val="FFFFFF"/>
                </a:solidFill>
                <a:latin typeface="Arial Nova Condensed Bold"/>
                <a:ea typeface="Arial Nova Condensed Bold"/>
                <a:cs typeface="Arial Nova Condensed Bold"/>
                <a:sym typeface="Arial Nova Condensed Bold"/>
              </a:rPr>
              <a:t>Impact of the Project</a:t>
            </a:r>
          </a:p>
        </p:txBody>
      </p:sp>
      <p:sp>
        <p:nvSpPr>
          <p:cNvPr id="5" name="TextBox 5"/>
          <p:cNvSpPr txBox="1"/>
          <p:nvPr/>
        </p:nvSpPr>
        <p:spPr>
          <a:xfrm>
            <a:off x="477626" y="2597206"/>
            <a:ext cx="7944967" cy="2734945"/>
          </a:xfrm>
          <a:prstGeom prst="rect">
            <a:avLst/>
          </a:prstGeom>
        </p:spPr>
        <p:txBody>
          <a:bodyPr lIns="0" tIns="0" rIns="0" bIns="0" rtlCol="0" anchor="t">
            <a:spAutoFit/>
          </a:bodyPr>
          <a:lstStyle/>
          <a:p>
            <a:pPr marL="1122679" lvl="1" indent="-561340" algn="l">
              <a:lnSpc>
                <a:spcPts val="7279"/>
              </a:lnSpc>
              <a:buFont typeface="Arial"/>
              <a:buChar char="•"/>
            </a:pPr>
            <a:r>
              <a:rPr lang="en-US" sz="5199">
                <a:solidFill>
                  <a:srgbClr val="FFFFFF"/>
                </a:solidFill>
                <a:latin typeface="Arial Nova Condensed"/>
                <a:ea typeface="Arial Nova Condensed"/>
                <a:cs typeface="Arial Nova Condensed"/>
                <a:sym typeface="Arial Nova Condensed"/>
              </a:rPr>
              <a:t>Item</a:t>
            </a:r>
          </a:p>
          <a:p>
            <a:pPr marL="1122679" lvl="1" indent="-561340" algn="l">
              <a:lnSpc>
                <a:spcPts val="7279"/>
              </a:lnSpc>
              <a:buFont typeface="Arial"/>
              <a:buChar char="•"/>
            </a:pPr>
            <a:r>
              <a:rPr lang="en-US" sz="5199">
                <a:solidFill>
                  <a:srgbClr val="FFFFFF"/>
                </a:solidFill>
                <a:latin typeface="Arial Nova Condensed"/>
                <a:ea typeface="Arial Nova Condensed"/>
                <a:cs typeface="Arial Nova Condensed"/>
                <a:sym typeface="Arial Nova Condensed"/>
              </a:rPr>
              <a:t>Item</a:t>
            </a:r>
          </a:p>
          <a:p>
            <a:pPr marL="1122679" lvl="1" indent="-561340" algn="l">
              <a:lnSpc>
                <a:spcPts val="7279"/>
              </a:lnSpc>
              <a:buFont typeface="Arial"/>
              <a:buChar char="•"/>
            </a:pPr>
            <a:r>
              <a:rPr lang="en-US" sz="5199">
                <a:solidFill>
                  <a:srgbClr val="FFFFFF"/>
                </a:solidFill>
                <a:latin typeface="Arial Nova Condensed"/>
                <a:ea typeface="Arial Nova Condensed"/>
                <a:cs typeface="Arial Nova Condensed"/>
                <a:sym typeface="Arial Nova Condensed"/>
              </a:rPr>
              <a:t>Item</a:t>
            </a:r>
          </a:p>
        </p:txBody>
      </p:sp>
      <p:sp>
        <p:nvSpPr>
          <p:cNvPr id="6" name="TextBox 6"/>
          <p:cNvSpPr txBox="1"/>
          <p:nvPr/>
        </p:nvSpPr>
        <p:spPr>
          <a:xfrm>
            <a:off x="8782418" y="2597206"/>
            <a:ext cx="9075600" cy="2734945"/>
          </a:xfrm>
          <a:prstGeom prst="rect">
            <a:avLst/>
          </a:prstGeom>
        </p:spPr>
        <p:txBody>
          <a:bodyPr lIns="0" tIns="0" rIns="0" bIns="0" rtlCol="0" anchor="t">
            <a:spAutoFit/>
          </a:bodyPr>
          <a:lstStyle/>
          <a:p>
            <a:pPr marL="1122679" lvl="1" indent="-561340" algn="l">
              <a:lnSpc>
                <a:spcPts val="7279"/>
              </a:lnSpc>
              <a:buFont typeface="Arial"/>
              <a:buChar char="•"/>
            </a:pPr>
            <a:r>
              <a:rPr lang="en-US" sz="5199">
                <a:solidFill>
                  <a:srgbClr val="FFFFFF"/>
                </a:solidFill>
                <a:latin typeface="Arial Nova Condensed"/>
                <a:ea typeface="Arial Nova Condensed"/>
                <a:cs typeface="Arial Nova Condensed"/>
                <a:sym typeface="Arial Nova Condensed"/>
              </a:rPr>
              <a:t>Item</a:t>
            </a:r>
          </a:p>
          <a:p>
            <a:pPr marL="1122679" lvl="1" indent="-561340" algn="l">
              <a:lnSpc>
                <a:spcPts val="7279"/>
              </a:lnSpc>
              <a:buFont typeface="Arial"/>
              <a:buChar char="•"/>
            </a:pPr>
            <a:r>
              <a:rPr lang="en-US" sz="5199">
                <a:solidFill>
                  <a:srgbClr val="FFFFFF"/>
                </a:solidFill>
                <a:latin typeface="Arial Nova Condensed"/>
                <a:ea typeface="Arial Nova Condensed"/>
                <a:cs typeface="Arial Nova Condensed"/>
                <a:sym typeface="Arial Nova Condensed"/>
              </a:rPr>
              <a:t>Item</a:t>
            </a:r>
          </a:p>
          <a:p>
            <a:pPr marL="1122679" lvl="1" indent="-561340" algn="l">
              <a:lnSpc>
                <a:spcPts val="7279"/>
              </a:lnSpc>
              <a:buFont typeface="Arial"/>
              <a:buChar char="•"/>
            </a:pPr>
            <a:r>
              <a:rPr lang="en-US" sz="5199">
                <a:solidFill>
                  <a:srgbClr val="FFFFFF"/>
                </a:solidFill>
                <a:latin typeface="Arial Nova Condensed"/>
                <a:ea typeface="Arial Nova Condensed"/>
                <a:cs typeface="Arial Nova Condensed"/>
                <a:sym typeface="Arial Nova Condensed"/>
              </a:rPr>
              <a:t>Item</a:t>
            </a:r>
          </a:p>
        </p:txBody>
      </p:sp>
      <p:sp>
        <p:nvSpPr>
          <p:cNvPr id="7" name="AutoShape 7"/>
          <p:cNvSpPr/>
          <p:nvPr/>
        </p:nvSpPr>
        <p:spPr>
          <a:xfrm flipV="1">
            <a:off x="8035419" y="1028760"/>
            <a:ext cx="0" cy="8229540"/>
          </a:xfrm>
          <a:prstGeom prst="line">
            <a:avLst/>
          </a:prstGeom>
          <a:ln w="38100" cap="flat">
            <a:solidFill>
              <a:srgbClr val="FFFFFF"/>
            </a:solidFill>
            <a:prstDash val="solid"/>
            <a:headEnd type="none" w="sm" len="sm"/>
            <a:tailEnd type="none" w="sm" len="sm"/>
          </a:ln>
        </p:spPr>
        <p:txBody>
          <a:bodyPr/>
          <a:lstStyle/>
          <a:p>
            <a:endParaRPr lang="en-UZ"/>
          </a:p>
        </p:txBody>
      </p:sp>
      <p:sp>
        <p:nvSpPr>
          <p:cNvPr id="8" name="TextBox 8"/>
          <p:cNvSpPr txBox="1"/>
          <p:nvPr/>
        </p:nvSpPr>
        <p:spPr>
          <a:xfrm>
            <a:off x="8782418" y="5549420"/>
            <a:ext cx="8451112" cy="4257675"/>
          </a:xfrm>
          <a:prstGeom prst="rect">
            <a:avLst/>
          </a:prstGeom>
        </p:spPr>
        <p:txBody>
          <a:bodyPr lIns="0" tIns="0" rIns="0" bIns="0" rtlCol="0" anchor="t">
            <a:spAutoFit/>
          </a:bodyPr>
          <a:lstStyle/>
          <a:p>
            <a:pPr algn="l">
              <a:lnSpc>
                <a:spcPts val="4200"/>
              </a:lnSpc>
              <a:spcBef>
                <a:spcPct val="0"/>
              </a:spcBef>
            </a:pPr>
            <a:r>
              <a:rPr lang="en-US" sz="3000" i="1">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In this slide, describe how your project can be scaled or expanded in the future. Explain what additional features, improvements, or integrations could be developed next. Also discuss the potential long-term impact of your project, including how it could benefit the industry or community over time. Focus on both practical growth opportunities and the broader value your project could create.</a:t>
            </a:r>
          </a:p>
        </p:txBody>
      </p:sp>
      <p:sp>
        <p:nvSpPr>
          <p:cNvPr id="9" name="Slide Number Placeholder 8">
            <a:extLst>
              <a:ext uri="{FF2B5EF4-FFF2-40B4-BE49-F238E27FC236}">
                <a16:creationId xmlns:a16="http://schemas.microsoft.com/office/drawing/2014/main" id="{A5B4D41A-5934-8DD6-2C0A-C95F64F145A8}"/>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Summary and Conclusion</a:t>
            </a:r>
          </a:p>
        </p:txBody>
      </p:sp>
      <p:sp>
        <p:nvSpPr>
          <p:cNvPr id="4" name="Slide Number Placeholder 3">
            <a:extLst>
              <a:ext uri="{FF2B5EF4-FFF2-40B4-BE49-F238E27FC236}">
                <a16:creationId xmlns:a16="http://schemas.microsoft.com/office/drawing/2014/main" id="{7AB1BB64-4036-7335-571B-81976F3D1DF3}"/>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65125"/>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Summary and Conclusion</a:t>
            </a:r>
          </a:p>
        </p:txBody>
      </p:sp>
      <p:sp>
        <p:nvSpPr>
          <p:cNvPr id="4" name="TextBox 4"/>
          <p:cNvSpPr txBox="1"/>
          <p:nvPr/>
        </p:nvSpPr>
        <p:spPr>
          <a:xfrm>
            <a:off x="937630" y="7015937"/>
            <a:ext cx="16580718" cy="2124075"/>
          </a:xfrm>
          <a:prstGeom prst="rect">
            <a:avLst/>
          </a:prstGeom>
        </p:spPr>
        <p:txBody>
          <a:bodyPr lIns="0" tIns="0" rIns="0" bIns="0" rtlCol="0" anchor="t">
            <a:spAutoFit/>
          </a:bodyPr>
          <a:lstStyle/>
          <a:p>
            <a:pPr algn="l">
              <a:lnSpc>
                <a:spcPts val="4200"/>
              </a:lnSpc>
              <a:spcBef>
                <a:spcPct val="0"/>
              </a:spcBef>
            </a:pPr>
            <a:r>
              <a:rPr lang="en-US" sz="3000" i="1">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“In this slide, provide a brief summary of your project’s overall success, highlighting how well the objectives were achieved. Then, identify and explain the top three personal or professional lessons you gained from the experience. Focus on insights that demonstrate your growth, skills developed, and how these lessons can be applied in future projects or real-world situations.”</a:t>
            </a:r>
          </a:p>
        </p:txBody>
      </p:sp>
      <p:sp>
        <p:nvSpPr>
          <p:cNvPr id="5" name="Slide Number Placeholder 4">
            <a:extLst>
              <a:ext uri="{FF2B5EF4-FFF2-40B4-BE49-F238E27FC236}">
                <a16:creationId xmlns:a16="http://schemas.microsoft.com/office/drawing/2014/main" id="{9DE09435-A500-DE21-3F31-FB4715A1000C}"/>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a:extLst>
            <a:ext uri="{FF2B5EF4-FFF2-40B4-BE49-F238E27FC236}">
              <a16:creationId xmlns:a16="http://schemas.microsoft.com/office/drawing/2014/main" id="{80767FC0-4EE5-748D-21BB-D10AA5DCB6A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2759C32-5E83-8BF8-C7EE-D6E19C085FF3}"/>
              </a:ext>
            </a:extLst>
          </p:cNvPr>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a:extLst>
              <a:ext uri="{FF2B5EF4-FFF2-40B4-BE49-F238E27FC236}">
                <a16:creationId xmlns:a16="http://schemas.microsoft.com/office/drawing/2014/main" id="{63240C5E-8525-8FF8-DD3A-9013F60D06CB}"/>
              </a:ext>
            </a:extLst>
          </p:cNvPr>
          <p:cNvSpPr txBox="1"/>
          <p:nvPr/>
        </p:nvSpPr>
        <p:spPr>
          <a:xfrm>
            <a:off x="769652" y="365125"/>
            <a:ext cx="16748695" cy="1145185"/>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Project Contribution Breakdown</a:t>
            </a:r>
          </a:p>
        </p:txBody>
      </p:sp>
      <p:sp>
        <p:nvSpPr>
          <p:cNvPr id="4" name="TextBox 4">
            <a:extLst>
              <a:ext uri="{FF2B5EF4-FFF2-40B4-BE49-F238E27FC236}">
                <a16:creationId xmlns:a16="http://schemas.microsoft.com/office/drawing/2014/main" id="{103C7444-8553-32A8-DFDB-68EBB44AC722}"/>
              </a:ext>
            </a:extLst>
          </p:cNvPr>
          <p:cNvSpPr txBox="1"/>
          <p:nvPr/>
        </p:nvSpPr>
        <p:spPr>
          <a:xfrm>
            <a:off x="533400" y="7938692"/>
            <a:ext cx="16580718" cy="1567993"/>
          </a:xfrm>
          <a:prstGeom prst="rect">
            <a:avLst/>
          </a:prstGeom>
        </p:spPr>
        <p:txBody>
          <a:bodyPr lIns="0" tIns="0" rIns="0" bIns="0" rtlCol="0" anchor="t">
            <a:spAutoFit/>
          </a:bodyPr>
          <a:lstStyle/>
          <a:p>
            <a:pPr>
              <a:lnSpc>
                <a:spcPts val="4200"/>
              </a:lnSpc>
              <a:spcBef>
                <a:spcPct val="0"/>
              </a:spcBef>
            </a:pPr>
            <a:r>
              <a:rPr lang="en-US" sz="3000" i="1" dirty="0">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Provide a detailed breakdown of each team member’s contributions. For every member, include: (1) Student ID, (2) name, (3) roles and responsibilities, (4) specific tasks completed, and (5) key outputs or results. Ensure all contributions are clearly distinguished and accurately reflect each individual’s work.</a:t>
            </a:r>
          </a:p>
        </p:txBody>
      </p:sp>
      <p:sp>
        <p:nvSpPr>
          <p:cNvPr id="5" name="Slide Number Placeholder 4">
            <a:extLst>
              <a:ext uri="{FF2B5EF4-FFF2-40B4-BE49-F238E27FC236}">
                <a16:creationId xmlns:a16="http://schemas.microsoft.com/office/drawing/2014/main" id="{45F26185-E2BE-2F16-686C-7BCAAAB6B647}"/>
              </a:ext>
            </a:extLst>
          </p:cNvPr>
          <p:cNvSpPr>
            <a:spLocks noGrp="1"/>
          </p:cNvSpPr>
          <p:nvPr>
            <p:ph type="sldNum" sz="quarter" idx="12"/>
          </p:nvPr>
        </p:nvSpPr>
        <p:spPr/>
        <p:txBody>
          <a:bodyPr/>
          <a:lstStyle/>
          <a:p>
            <a:fld id="{B6F15528-21DE-4FAA-801E-634DDDAF4B2B}" type="slidenum">
              <a:rPr lang="en-US" smtClean="0"/>
              <a:pPr/>
              <a:t>27</a:t>
            </a:fld>
            <a:endParaRPr lang="en-US"/>
          </a:p>
        </p:txBody>
      </p:sp>
      <p:graphicFrame>
        <p:nvGraphicFramePr>
          <p:cNvPr id="6" name="Table 5">
            <a:extLst>
              <a:ext uri="{FF2B5EF4-FFF2-40B4-BE49-F238E27FC236}">
                <a16:creationId xmlns:a16="http://schemas.microsoft.com/office/drawing/2014/main" id="{77F63A32-AC0E-84EC-85A5-1543E0936D4E}"/>
              </a:ext>
            </a:extLst>
          </p:cNvPr>
          <p:cNvGraphicFramePr>
            <a:graphicFrameLocks noGrp="1"/>
          </p:cNvGraphicFramePr>
          <p:nvPr>
            <p:extLst>
              <p:ext uri="{D42A27DB-BD31-4B8C-83A1-F6EECF244321}">
                <p14:modId xmlns:p14="http://schemas.microsoft.com/office/powerpoint/2010/main" val="1389910008"/>
              </p:ext>
            </p:extLst>
          </p:nvPr>
        </p:nvGraphicFramePr>
        <p:xfrm>
          <a:off x="769652" y="2139400"/>
          <a:ext cx="16967560" cy="3004100"/>
        </p:xfrm>
        <a:graphic>
          <a:graphicData uri="http://schemas.openxmlformats.org/drawingml/2006/table">
            <a:tbl>
              <a:tblPr firstRow="1" bandRow="1">
                <a:tableStyleId>{5C22544A-7EE6-4342-B048-85BDC9FD1C3A}</a:tableStyleId>
              </a:tblPr>
              <a:tblGrid>
                <a:gridCol w="1827403">
                  <a:extLst>
                    <a:ext uri="{9D8B030D-6E8A-4147-A177-3AD203B41FA5}">
                      <a16:colId xmlns:a16="http://schemas.microsoft.com/office/drawing/2014/main" val="2657846673"/>
                    </a:ext>
                  </a:extLst>
                </a:gridCol>
                <a:gridCol w="2387791">
                  <a:extLst>
                    <a:ext uri="{9D8B030D-6E8A-4147-A177-3AD203B41FA5}">
                      <a16:colId xmlns:a16="http://schemas.microsoft.com/office/drawing/2014/main" val="3570762389"/>
                    </a:ext>
                  </a:extLst>
                </a:gridCol>
                <a:gridCol w="4463162">
                  <a:extLst>
                    <a:ext uri="{9D8B030D-6E8A-4147-A177-3AD203B41FA5}">
                      <a16:colId xmlns:a16="http://schemas.microsoft.com/office/drawing/2014/main" val="2053124338"/>
                    </a:ext>
                  </a:extLst>
                </a:gridCol>
                <a:gridCol w="4206668">
                  <a:extLst>
                    <a:ext uri="{9D8B030D-6E8A-4147-A177-3AD203B41FA5}">
                      <a16:colId xmlns:a16="http://schemas.microsoft.com/office/drawing/2014/main" val="1782963417"/>
                    </a:ext>
                  </a:extLst>
                </a:gridCol>
                <a:gridCol w="4082536">
                  <a:extLst>
                    <a:ext uri="{9D8B030D-6E8A-4147-A177-3AD203B41FA5}">
                      <a16:colId xmlns:a16="http://schemas.microsoft.com/office/drawing/2014/main" val="3262852190"/>
                    </a:ext>
                  </a:extLst>
                </a:gridCol>
              </a:tblGrid>
              <a:tr h="600820">
                <a:tc>
                  <a:txBody>
                    <a:bodyPr/>
                    <a:lstStyle/>
                    <a:p>
                      <a:pPr algn="ctr"/>
                      <a:r>
                        <a:rPr lang="en-UZ" sz="2800" dirty="0"/>
                        <a:t>Student ID</a:t>
                      </a:r>
                    </a:p>
                  </a:txBody>
                  <a:tcPr/>
                </a:tc>
                <a:tc>
                  <a:txBody>
                    <a:bodyPr/>
                    <a:lstStyle/>
                    <a:p>
                      <a:pPr algn="ctr"/>
                      <a:r>
                        <a:rPr lang="en-UZ" sz="2800" dirty="0"/>
                        <a:t>Student Name</a:t>
                      </a:r>
                    </a:p>
                  </a:txBody>
                  <a:tcPr/>
                </a:tc>
                <a:tc>
                  <a:txBody>
                    <a:bodyPr/>
                    <a:lstStyle/>
                    <a:p>
                      <a:pPr algn="ctr"/>
                      <a:r>
                        <a:rPr lang="en-UZ" sz="2800" dirty="0"/>
                        <a:t>Roles and Responsibilities</a:t>
                      </a:r>
                    </a:p>
                  </a:txBody>
                  <a:tcPr/>
                </a:tc>
                <a:tc>
                  <a:txBody>
                    <a:bodyPr/>
                    <a:lstStyle/>
                    <a:p>
                      <a:pPr algn="ctr"/>
                      <a:r>
                        <a:rPr lang="en-UZ" sz="2800" dirty="0"/>
                        <a:t>Specific Tasks Completed</a:t>
                      </a:r>
                    </a:p>
                  </a:txBody>
                  <a:tcPr/>
                </a:tc>
                <a:tc>
                  <a:txBody>
                    <a:bodyPr/>
                    <a:lstStyle/>
                    <a:p>
                      <a:pPr algn="ctr"/>
                      <a:r>
                        <a:rPr lang="en-UZ" sz="2800" dirty="0"/>
                        <a:t>Key outputs/Results</a:t>
                      </a:r>
                    </a:p>
                  </a:txBody>
                  <a:tcPr/>
                </a:tc>
                <a:extLst>
                  <a:ext uri="{0D108BD9-81ED-4DB2-BD59-A6C34878D82A}">
                    <a16:rowId xmlns:a16="http://schemas.microsoft.com/office/drawing/2014/main" val="3286823359"/>
                  </a:ext>
                </a:extLst>
              </a:tr>
              <a:tr h="600820">
                <a:tc>
                  <a:txBody>
                    <a:bodyPr/>
                    <a:lstStyle/>
                    <a:p>
                      <a:endParaRPr lang="en-UZ" sz="2800" dirty="0"/>
                    </a:p>
                  </a:txBody>
                  <a:tcPr/>
                </a:tc>
                <a:tc>
                  <a:txBody>
                    <a:bodyPr/>
                    <a:lstStyle/>
                    <a:p>
                      <a:endParaRPr lang="en-UZ" sz="2800" dirty="0"/>
                    </a:p>
                  </a:txBody>
                  <a:tcPr/>
                </a:tc>
                <a:tc>
                  <a:txBody>
                    <a:bodyPr/>
                    <a:lstStyle/>
                    <a:p>
                      <a:endParaRPr lang="en-UZ" sz="2800" dirty="0"/>
                    </a:p>
                  </a:txBody>
                  <a:tcPr/>
                </a:tc>
                <a:tc>
                  <a:txBody>
                    <a:bodyPr/>
                    <a:lstStyle/>
                    <a:p>
                      <a:endParaRPr lang="en-UZ" sz="2800" dirty="0"/>
                    </a:p>
                  </a:txBody>
                  <a:tcPr/>
                </a:tc>
                <a:tc>
                  <a:txBody>
                    <a:bodyPr/>
                    <a:lstStyle/>
                    <a:p>
                      <a:endParaRPr lang="en-UZ" sz="2800" dirty="0"/>
                    </a:p>
                  </a:txBody>
                  <a:tcPr/>
                </a:tc>
                <a:extLst>
                  <a:ext uri="{0D108BD9-81ED-4DB2-BD59-A6C34878D82A}">
                    <a16:rowId xmlns:a16="http://schemas.microsoft.com/office/drawing/2014/main" val="3489152114"/>
                  </a:ext>
                </a:extLst>
              </a:tr>
              <a:tr h="600820">
                <a:tc>
                  <a:txBody>
                    <a:bodyPr/>
                    <a:lstStyle/>
                    <a:p>
                      <a:endParaRPr lang="en-UZ" sz="2800" dirty="0"/>
                    </a:p>
                  </a:txBody>
                  <a:tcPr/>
                </a:tc>
                <a:tc>
                  <a:txBody>
                    <a:bodyPr/>
                    <a:lstStyle/>
                    <a:p>
                      <a:endParaRPr lang="en-UZ" sz="2800" dirty="0"/>
                    </a:p>
                  </a:txBody>
                  <a:tcPr/>
                </a:tc>
                <a:tc>
                  <a:txBody>
                    <a:bodyPr/>
                    <a:lstStyle/>
                    <a:p>
                      <a:endParaRPr lang="en-UZ" sz="2800" dirty="0"/>
                    </a:p>
                  </a:txBody>
                  <a:tcPr/>
                </a:tc>
                <a:tc>
                  <a:txBody>
                    <a:bodyPr/>
                    <a:lstStyle/>
                    <a:p>
                      <a:endParaRPr lang="en-UZ" sz="2800" dirty="0"/>
                    </a:p>
                  </a:txBody>
                  <a:tcPr/>
                </a:tc>
                <a:tc>
                  <a:txBody>
                    <a:bodyPr/>
                    <a:lstStyle/>
                    <a:p>
                      <a:endParaRPr lang="en-UZ" sz="2800" dirty="0"/>
                    </a:p>
                  </a:txBody>
                  <a:tcPr/>
                </a:tc>
                <a:extLst>
                  <a:ext uri="{0D108BD9-81ED-4DB2-BD59-A6C34878D82A}">
                    <a16:rowId xmlns:a16="http://schemas.microsoft.com/office/drawing/2014/main" val="4064849443"/>
                  </a:ext>
                </a:extLst>
              </a:tr>
              <a:tr h="600820">
                <a:tc>
                  <a:txBody>
                    <a:bodyPr/>
                    <a:lstStyle/>
                    <a:p>
                      <a:endParaRPr lang="en-UZ" sz="2800" dirty="0"/>
                    </a:p>
                  </a:txBody>
                  <a:tcPr/>
                </a:tc>
                <a:tc>
                  <a:txBody>
                    <a:bodyPr/>
                    <a:lstStyle/>
                    <a:p>
                      <a:endParaRPr lang="en-UZ" sz="2800" dirty="0"/>
                    </a:p>
                  </a:txBody>
                  <a:tcPr/>
                </a:tc>
                <a:tc>
                  <a:txBody>
                    <a:bodyPr/>
                    <a:lstStyle/>
                    <a:p>
                      <a:endParaRPr lang="en-UZ" sz="2800" dirty="0"/>
                    </a:p>
                  </a:txBody>
                  <a:tcPr/>
                </a:tc>
                <a:tc>
                  <a:txBody>
                    <a:bodyPr/>
                    <a:lstStyle/>
                    <a:p>
                      <a:endParaRPr lang="en-UZ" sz="2800" dirty="0"/>
                    </a:p>
                  </a:txBody>
                  <a:tcPr/>
                </a:tc>
                <a:tc>
                  <a:txBody>
                    <a:bodyPr/>
                    <a:lstStyle/>
                    <a:p>
                      <a:endParaRPr lang="en-UZ" sz="2800" dirty="0"/>
                    </a:p>
                  </a:txBody>
                  <a:tcPr/>
                </a:tc>
                <a:extLst>
                  <a:ext uri="{0D108BD9-81ED-4DB2-BD59-A6C34878D82A}">
                    <a16:rowId xmlns:a16="http://schemas.microsoft.com/office/drawing/2014/main" val="1881124375"/>
                  </a:ext>
                </a:extLst>
              </a:tr>
              <a:tr h="600820">
                <a:tc>
                  <a:txBody>
                    <a:bodyPr/>
                    <a:lstStyle/>
                    <a:p>
                      <a:endParaRPr lang="en-UZ" sz="2800" dirty="0"/>
                    </a:p>
                  </a:txBody>
                  <a:tcPr/>
                </a:tc>
                <a:tc>
                  <a:txBody>
                    <a:bodyPr/>
                    <a:lstStyle/>
                    <a:p>
                      <a:endParaRPr lang="en-UZ" sz="2800" dirty="0"/>
                    </a:p>
                  </a:txBody>
                  <a:tcPr/>
                </a:tc>
                <a:tc>
                  <a:txBody>
                    <a:bodyPr/>
                    <a:lstStyle/>
                    <a:p>
                      <a:endParaRPr lang="en-UZ" sz="2800" dirty="0"/>
                    </a:p>
                  </a:txBody>
                  <a:tcPr/>
                </a:tc>
                <a:tc>
                  <a:txBody>
                    <a:bodyPr/>
                    <a:lstStyle/>
                    <a:p>
                      <a:endParaRPr lang="en-UZ" sz="2800" dirty="0"/>
                    </a:p>
                  </a:txBody>
                  <a:tcPr/>
                </a:tc>
                <a:tc>
                  <a:txBody>
                    <a:bodyPr/>
                    <a:lstStyle/>
                    <a:p>
                      <a:endParaRPr lang="en-UZ" sz="2800" dirty="0"/>
                    </a:p>
                  </a:txBody>
                  <a:tcPr/>
                </a:tc>
                <a:extLst>
                  <a:ext uri="{0D108BD9-81ED-4DB2-BD59-A6C34878D82A}">
                    <a16:rowId xmlns:a16="http://schemas.microsoft.com/office/drawing/2014/main" val="2082548747"/>
                  </a:ext>
                </a:extLst>
              </a:tr>
            </a:tbl>
          </a:graphicData>
        </a:graphic>
      </p:graphicFrame>
    </p:spTree>
    <p:extLst>
      <p:ext uri="{BB962C8B-B14F-4D97-AF65-F5344CB8AC3E}">
        <p14:creationId xmlns:p14="http://schemas.microsoft.com/office/powerpoint/2010/main" val="2079414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a:extLst>
            <a:ext uri="{FF2B5EF4-FFF2-40B4-BE49-F238E27FC236}">
              <a16:creationId xmlns:a16="http://schemas.microsoft.com/office/drawing/2014/main" id="{2411FAEC-560A-4336-4625-9246AC24399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8CC5DEE-7BE6-D39B-CE16-1C6BE31F2402}"/>
              </a:ext>
            </a:extLst>
          </p:cNvPr>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a:extLst>
              <a:ext uri="{FF2B5EF4-FFF2-40B4-BE49-F238E27FC236}">
                <a16:creationId xmlns:a16="http://schemas.microsoft.com/office/drawing/2014/main" id="{362F0464-25CC-AFB4-DC40-E968047DE808}"/>
              </a:ext>
            </a:extLst>
          </p:cNvPr>
          <p:cNvSpPr txBox="1"/>
          <p:nvPr/>
        </p:nvSpPr>
        <p:spPr>
          <a:xfrm>
            <a:off x="769652" y="365125"/>
            <a:ext cx="16748695" cy="1145185"/>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References</a:t>
            </a:r>
          </a:p>
        </p:txBody>
      </p:sp>
      <p:sp>
        <p:nvSpPr>
          <p:cNvPr id="4" name="TextBox 4">
            <a:extLst>
              <a:ext uri="{FF2B5EF4-FFF2-40B4-BE49-F238E27FC236}">
                <a16:creationId xmlns:a16="http://schemas.microsoft.com/office/drawing/2014/main" id="{16A7FF9C-8C42-920A-2C4D-4EA5C4FE4DE5}"/>
              </a:ext>
            </a:extLst>
          </p:cNvPr>
          <p:cNvSpPr txBox="1"/>
          <p:nvPr/>
        </p:nvSpPr>
        <p:spPr>
          <a:xfrm>
            <a:off x="585064" y="8741165"/>
            <a:ext cx="16580718" cy="490775"/>
          </a:xfrm>
          <a:prstGeom prst="rect">
            <a:avLst/>
          </a:prstGeom>
        </p:spPr>
        <p:txBody>
          <a:bodyPr lIns="0" tIns="0" rIns="0" bIns="0" rtlCol="0" anchor="t">
            <a:spAutoFit/>
          </a:bodyPr>
          <a:lstStyle/>
          <a:p>
            <a:pPr>
              <a:lnSpc>
                <a:spcPts val="4200"/>
              </a:lnSpc>
              <a:spcBef>
                <a:spcPct val="0"/>
              </a:spcBef>
            </a:pPr>
            <a:r>
              <a:rPr lang="en-US" sz="3000" i="1" dirty="0">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“Include all sources cited in this research and project, formatted in accordance with IEEE referencing style.”</a:t>
            </a:r>
          </a:p>
        </p:txBody>
      </p:sp>
      <p:sp>
        <p:nvSpPr>
          <p:cNvPr id="5" name="Slide Number Placeholder 4">
            <a:extLst>
              <a:ext uri="{FF2B5EF4-FFF2-40B4-BE49-F238E27FC236}">
                <a16:creationId xmlns:a16="http://schemas.microsoft.com/office/drawing/2014/main" id="{F182B880-97A3-99B2-E486-1513737D798D}"/>
              </a:ext>
            </a:extLst>
          </p:cNvPr>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1748539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a:extLst>
            <a:ext uri="{FF2B5EF4-FFF2-40B4-BE49-F238E27FC236}">
              <a16:creationId xmlns:a16="http://schemas.microsoft.com/office/drawing/2014/main" id="{203F5B32-27E9-4848-51FE-4375BD22E77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7B55A27-F7E3-F84D-812B-A001052BA12C}"/>
              </a:ext>
            </a:extLst>
          </p:cNvPr>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a:extLst>
              <a:ext uri="{FF2B5EF4-FFF2-40B4-BE49-F238E27FC236}">
                <a16:creationId xmlns:a16="http://schemas.microsoft.com/office/drawing/2014/main" id="{594A1BB8-7945-81C1-D297-3E81DED3FDE4}"/>
              </a:ext>
            </a:extLst>
          </p:cNvPr>
          <p:cNvSpPr txBox="1"/>
          <p:nvPr/>
        </p:nvSpPr>
        <p:spPr>
          <a:xfrm>
            <a:off x="769652" y="365125"/>
            <a:ext cx="16748695" cy="1145185"/>
          </a:xfrm>
          <a:prstGeom prst="rect">
            <a:avLst/>
          </a:prstGeom>
        </p:spPr>
        <p:txBody>
          <a:bodyPr lIns="0" tIns="0" rIns="0" bIns="0" rtlCol="0" anchor="t">
            <a:spAutoFit/>
          </a:bodyPr>
          <a:lstStyle/>
          <a:p>
            <a:pPr algn="ctr">
              <a:lnSpc>
                <a:spcPts val="9799"/>
              </a:lnSpc>
            </a:pPr>
            <a:r>
              <a:rPr lang="en-US" sz="6999" b="1" dirty="0">
                <a:solidFill>
                  <a:srgbClr val="FFFFFF"/>
                </a:solidFill>
                <a:latin typeface="Arial Nova Condensed Bold"/>
                <a:ea typeface="Arial Nova Condensed Bold"/>
                <a:cs typeface="Arial Nova Condensed Bold"/>
                <a:sym typeface="Arial Nova Condensed Bold"/>
              </a:rPr>
              <a:t>Acknowledgment</a:t>
            </a:r>
          </a:p>
        </p:txBody>
      </p:sp>
      <p:sp>
        <p:nvSpPr>
          <p:cNvPr id="4" name="TextBox 4">
            <a:extLst>
              <a:ext uri="{FF2B5EF4-FFF2-40B4-BE49-F238E27FC236}">
                <a16:creationId xmlns:a16="http://schemas.microsoft.com/office/drawing/2014/main" id="{AB67A24A-957F-59BF-7B1A-2C970EAAD4F7}"/>
              </a:ext>
            </a:extLst>
          </p:cNvPr>
          <p:cNvSpPr txBox="1"/>
          <p:nvPr/>
        </p:nvSpPr>
        <p:spPr>
          <a:xfrm>
            <a:off x="533400" y="8239102"/>
            <a:ext cx="16580718" cy="1567993"/>
          </a:xfrm>
          <a:prstGeom prst="rect">
            <a:avLst/>
          </a:prstGeom>
        </p:spPr>
        <p:txBody>
          <a:bodyPr lIns="0" tIns="0" rIns="0" bIns="0" rtlCol="0" anchor="t">
            <a:spAutoFit/>
          </a:bodyPr>
          <a:lstStyle/>
          <a:p>
            <a:pPr>
              <a:lnSpc>
                <a:spcPts val="4200"/>
              </a:lnSpc>
              <a:spcBef>
                <a:spcPct val="0"/>
              </a:spcBef>
            </a:pPr>
            <a:r>
              <a:rPr lang="en-US" sz="3000" i="1" dirty="0">
                <a:gradFill>
                  <a:gsLst>
                    <a:gs pos="0">
                      <a:srgbClr val="89D957">
                        <a:alpha val="100000"/>
                      </a:srgbClr>
                    </a:gs>
                    <a:gs pos="100000">
                      <a:srgbClr val="C9E265">
                        <a:alpha val="100000"/>
                      </a:srgbClr>
                    </a:gs>
                  </a:gsLst>
                  <a:lin ang="0"/>
                </a:gradFill>
                <a:latin typeface="Arial Nova Condensed Italics"/>
                <a:ea typeface="Arial Nova Condensed Italics"/>
                <a:cs typeface="Arial Nova Condensed Italics"/>
                <a:sym typeface="Arial Nova Condensed Italics"/>
              </a:rPr>
              <a:t>“Provide a brief note of appreciation to individuals or groups who assisted in the research and project, specifying the type of support they offered (e.g., guidance, resources, feedback). Keep the acknowledgment concise and professional.”</a:t>
            </a:r>
          </a:p>
        </p:txBody>
      </p:sp>
      <p:sp>
        <p:nvSpPr>
          <p:cNvPr id="5" name="Slide Number Placeholder 4">
            <a:extLst>
              <a:ext uri="{FF2B5EF4-FFF2-40B4-BE49-F238E27FC236}">
                <a16:creationId xmlns:a16="http://schemas.microsoft.com/office/drawing/2014/main" id="{96819942-4292-88CA-DA1A-B303EF2EFDD8}"/>
              </a:ext>
            </a:extLst>
          </p:cNvPr>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42306032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Thank you for your attention!</a:t>
            </a:r>
          </a:p>
        </p:txBody>
      </p:sp>
      <p:sp>
        <p:nvSpPr>
          <p:cNvPr id="4" name="Slide Number Placeholder 3">
            <a:extLst>
              <a:ext uri="{FF2B5EF4-FFF2-40B4-BE49-F238E27FC236}">
                <a16:creationId xmlns:a16="http://schemas.microsoft.com/office/drawing/2014/main" id="{7AB85A2D-6802-BAF9-3A8C-DB2B2C347317}"/>
              </a:ext>
            </a:extLst>
          </p:cNvPr>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154F"/>
        </a:solidFill>
        <a:effectLst/>
      </p:bgPr>
    </p:bg>
    <p:spTree>
      <p:nvGrpSpPr>
        <p:cNvPr id="1" name=""/>
        <p:cNvGrpSpPr/>
        <p:nvPr/>
      </p:nvGrpSpPr>
      <p:grpSpPr>
        <a:xfrm>
          <a:off x="0" y="0"/>
          <a:ext cx="0" cy="0"/>
          <a:chOff x="0" y="0"/>
          <a:chExt cx="0" cy="0"/>
        </a:xfrm>
      </p:grpSpPr>
      <p:sp>
        <p:nvSpPr>
          <p:cNvPr id="2" name="Freeform 2"/>
          <p:cNvSpPr/>
          <p:nvPr/>
        </p:nvSpPr>
        <p:spPr>
          <a:xfrm>
            <a:off x="14897935" y="9506685"/>
            <a:ext cx="3193037" cy="600820"/>
          </a:xfrm>
          <a:custGeom>
            <a:avLst/>
            <a:gdLst/>
            <a:ahLst/>
            <a:cxnLst/>
            <a:rect l="l" t="t" r="r" b="b"/>
            <a:pathLst>
              <a:path w="3193037" h="600820">
                <a:moveTo>
                  <a:pt x="0" y="0"/>
                </a:moveTo>
                <a:lnTo>
                  <a:pt x="3193037" y="0"/>
                </a:lnTo>
                <a:lnTo>
                  <a:pt x="3193037" y="600820"/>
                </a:lnTo>
                <a:lnTo>
                  <a:pt x="0" y="600820"/>
                </a:lnTo>
                <a:lnTo>
                  <a:pt x="0" y="0"/>
                </a:lnTo>
                <a:close/>
              </a:path>
            </a:pathLst>
          </a:custGeom>
          <a:blipFill>
            <a:blip r:embed="rId2"/>
            <a:stretch>
              <a:fillRect/>
            </a:stretch>
          </a:blipFill>
        </p:spPr>
        <p:txBody>
          <a:bodyPr/>
          <a:lstStyle/>
          <a:p>
            <a:endParaRPr lang="en-UZ"/>
          </a:p>
        </p:txBody>
      </p:sp>
      <p:sp>
        <p:nvSpPr>
          <p:cNvPr id="3" name="TextBox 3"/>
          <p:cNvSpPr txBox="1"/>
          <p:nvPr/>
        </p:nvSpPr>
        <p:spPr>
          <a:xfrm>
            <a:off x="769652" y="3855174"/>
            <a:ext cx="16748695" cy="1193800"/>
          </a:xfrm>
          <a:prstGeom prst="rect">
            <a:avLst/>
          </a:prstGeom>
        </p:spPr>
        <p:txBody>
          <a:bodyPr lIns="0" tIns="0" rIns="0" bIns="0" rtlCol="0" anchor="t">
            <a:spAutoFit/>
          </a:bodyPr>
          <a:lstStyle/>
          <a:p>
            <a:pPr algn="ctr">
              <a:lnSpc>
                <a:spcPts val="9799"/>
              </a:lnSpc>
            </a:pPr>
            <a:r>
              <a:rPr lang="en-US" sz="6999" b="1">
                <a:solidFill>
                  <a:srgbClr val="FFFFFF"/>
                </a:solidFill>
                <a:latin typeface="Arial Nova Condensed Bold"/>
                <a:ea typeface="Arial Nova Condensed Bold"/>
                <a:cs typeface="Arial Nova Condensed Bold"/>
                <a:sym typeface="Arial Nova Condensed Bold"/>
              </a:rPr>
              <a:t>Q &amp; A</a:t>
            </a:r>
          </a:p>
        </p:txBody>
      </p:sp>
      <p:sp>
        <p:nvSpPr>
          <p:cNvPr id="4" name="Slide Number Placeholder 3">
            <a:extLst>
              <a:ext uri="{FF2B5EF4-FFF2-40B4-BE49-F238E27FC236}">
                <a16:creationId xmlns:a16="http://schemas.microsoft.com/office/drawing/2014/main" id="{236DC5C3-5AFE-55FD-3782-C659A253A736}"/>
              </a:ext>
            </a:extLst>
          </p:cNvPr>
          <p:cNvSpPr>
            <a:spLocks noGrp="1"/>
          </p:cNvSpPr>
          <p:nvPr>
            <p:ph type="sldNum" sz="quarter" idx="12"/>
          </p:nvPr>
        </p:nvSpPr>
        <p:spPr/>
        <p:txBody>
          <a:bodyPr/>
          <a:lstStyle/>
          <a:p>
            <a:fld id="{B6F15528-21DE-4FAA-801E-634DDDAF4B2B}" type="slidenum">
              <a:rPr lang="en-US" smtClean="0"/>
              <a:pPr/>
              <a:t>31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957</Words>
  <Application>Microsoft Office PowerPoint</Application>
  <PresentationFormat>Custom</PresentationFormat>
  <Paragraphs>128</Paragraphs>
  <Slides>31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 Nova Condensed</vt:lpstr>
      <vt:lpstr>Arial</vt:lpstr>
      <vt:lpstr>Aptos</vt:lpstr>
      <vt:lpstr>Arial Nova Condensed Bold</vt:lpstr>
      <vt:lpstr>Calibri</vt:lpstr>
      <vt:lpstr>League Gothic</vt:lpstr>
      <vt:lpstr>Arial Nova Condensed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cp:lastModifiedBy>Sajid Khan</cp:lastModifiedBy>
  <cp:revision>3</cp:revision>
  <dcterms:created xsi:type="dcterms:W3CDTF">2006-08-16T00:00:00Z</dcterms:created>
  <dcterms:modified xsi:type="dcterms:W3CDTF">2026-04-24T05:28:22Z</dcterms:modified>
  <dc:identifier>DAHHjocdgr4</dc:identifier>
</cp:coreProperties>
</file>